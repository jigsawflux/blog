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go beyond code completion. All three tools — Claude, GitHub Copilot, and Google Gemini (including Google's new Antigravity IDE) — have evolved massively in the past year. They're no longer just code generators. They now have agentic capabilities, long context windows, multimodal understanding, and integrated security scanning. This talk shows how architects can leverage each tool's unique strengths for elevated use cases: reverse-engineering architecture, generating TOGAF artefacts, security analysis, and building POC/SPIKEs. Note: Antigravity is Google's agent-first IDE (VS Code fork) released Nov 2025 alongside Gemini 3 — it's the IDE where Gemini truly comes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since late 2025, these are fundamentally different tools than what most architects tried a year ago. The context window expansion is particularly transformative — Gemini's 1M tokens means you can feed an entire microservices codebase. Claude's 200K tokens handles most real-world repos. And agentic mode means the tool doesn't just suggest — it plans, executes, and self-corrects. For architects, this means tasks like 'understand this legacy system' or 'generate a threat model' are now genuinely viable.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differentiation for 2026:
CLAUDE: No longer just a chat window. Claude Code is a full agentic CLI that runs in your terminal, executes commands, edits files, and uses a multi-agent architecture. It's strongest for deep architectural reasoning — understanding large codebases, generating structured documentation, and trade-off analysis. Projects allow persistent context across sessions.
COPILOT: Now has a full coding agent that can be assigned GitHub issues and autonomously creates PRs. Agent mode does multi-file edits with self-healing. Built-in security scanning (code scanning, secret scanning, dependency checks) runs automatically. Multi-model support means you can use Claude or Gemini models inside Copilot.
GEMINI: 1M+ token context is the headline differentiator for architecture work. Gemini Code Assist now has agent mode in the IDE plus automated PR reviews on GitHub. Native multimodality means you can upload whiteboard photos, Visio diagrams, and architecture screenshots. Gemini 3.1 Pro offers frontier-class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matrix reflects 2026 reality: the tools have converged significantly. All three now have agent modes. All can do code explanation and security analysis. The real differentiators are: WHERE the tool lives (terminal/CLI for Claude Code, IDE for Copilot, browser+IDE+cloud for Gemini), CONTEXT SIZE (Gemini wins with 1M tokens), REASONING DEPTH (Claude wins for structured architectural analysis), and WORKFLOW INTEGRATION (Copilot wins — it's embedded in GitHub issues, PRs, and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Claude (claude.ai or Claude Code CLI).
Option A (Web): Create a Claude Project, upload the codebase as context, then prompt.
Option B (CLI): Use Claude Code in your terminal — it can read files, run commands, and iterate.
Key talking points:
- Claude's 200K token context handles most real-world repos in one session
- Projects provide persistent context — come back tomorrow and it still knows your codebase
- Multi-agent architecture means Claude spawns sub-agents for parallel analysis
- Claude excels at structured reasoning: ADRs, trade-off docs, TOGAF artefacts
- Mention Claude Code's agentic capabilities: it can read your repo, run tests, and generate diagrams
IMPORTANT: This is the 'thinking partner' demo — Claude's strength is deep architectural reasoning, not just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GitHub Copilot in VS Code + GitHub.
Scenario A shows the updated Agent Mode (not the old chat). In agent mode, Copilot autonomously plans, edits multiple files, runs terminal commands, and self-heals errors. The security scanning is the big update — code scanning, secret scanning, and dependency vulnerability checks now run automatically inside the agent workflow.
Scenario B shows the Coding Agent — this is the async, background agent announced May 2025. You assign a GitHub issue to Copilot, and it autonomously researches the repo, creates a plan, implements across multiple files, runs its own code review, runs security scans, and creates a PR. You review when it's done.
Key 2026 updates to mention:
- Multi-model support: you can now use Claude Opus 4.7 or Gemini inside Copilot
- MCP integration: connect external tools (Jira, Slack, databases) to the agent
- Agentic code review: reviews now gather full project context before suggesting changes
- Available in VS Code, JetBrains, Eclipse, Xcode
- Coding agent runs on GitHub Actions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 Gemini + Antigravity IDE.
Antigravity is Google's agent-first IDE, released Nov 2025 alongside Gemini 3. It's a VS Code fork, so all your extensions, keybindings, and themes carry over. But the value is the layer on top:
- Manager View: spawn up to 5 parallel agents working on different tasks simultaneously
- Built-in Chrome browser: agents can navigate to localhost, interact with UI, take screenshots to verify their own work
- Multi-model: Gemini 3.1 Pro (default), Gemini 3 Flash, Claude Sonnet 4.6, Claude Opus 4.6, GPT-OSS-120B
- Artifacts: every agent produces structured outputs — plans, diffs, screenshots, test results
- Free in public preview as of May 2026
For the demo: open Antigravity, upload an architecture diagram to Gemini, show the multimodal analysis. Then show the Manager View — spawn one agent to write the component spec, another to generate Terraform for GCP. Show the built-in browser verifying a deployed service.
Key talking point for architects: Antigravity shifts your role from 'writer of code' to 'mission controller'. You direct agents, review their artifacts, and focus on architectural decisions. This is the closest any tool comes to the architect-as-orchestrator paradigm.
Note on Gemini ecosystem: Antigravity (IDE), Gemini Code Assist (IDE extension for VS Code/JetBrains), Gemini CLI (terminal tool), Gemini web app (browser). Each serves a different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tiles represent the highest-value use cases beyond coding.
ADRs: Claude remains the strongest for structured reasoning. With Projects, you can maintain persistent architecture context — feed in your tech radar, principles, and existing ADRs, then generate new ones in that context.
Security: The big 2026 change is Copilot's built-in scanning. The coding agent auto-runs code scanning, secret scanning, and dependency vulnerability checks before even opening a PR. Combine with Claude for holistic STRIDE threat modelling.
TOGAF: Claude for reasoning, Gemini for multimodal input (existing diagrams + requirements docs).
POC/MVP: All three tools now have genuine agentic build capabilities. Copilot's coding agent is particularly strong here — assign an issue, come back to a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evolved from 'copy-paste into chat' to a genuine multi-tool architecture workflow.
Discover: Claude Projects maintain context across sessions — upload your codebase once, query it for weeks. Gemini's 1M tokens let you feed an entire repo + existing docs.
Design: Claude generates structured ADRs and trade-off docs. Copilot agent mode scaffolds IaC with self-healing.
Build: The biggest 2026 change. Copilot's coding agent takes GitHub issues and autonomously creates PRs. Claude Code runs in your terminal as a full agentic tool. Gemini Code Assist has agent mode in the IDE.
Validate: Copilot now auto-runs security scanning (code, secrets, deps) in the agent workflow. This is genuinely new — security is shifting left into the AI agent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concrete actions.
Anticipated Q&amp;A:
- 'Is our code safe?' — All three offer enterprise tiers with data protection. Don't paste proprietary code into free consumer tiers. Claude Enterprise, Copilot Enterprise, and Gemini Enterprise all have no-training guarantees.
- 'What about hallucinations?' — Treat AI output like a junior colleague's work. Always validate. The agentic tools are getting better at self-correction (Copilot's coding agent runs its own code review + security scan before PRs).
- 'Which model is inside Copilot?' — Multi-model now: GPT-4o (default), Claude, Gemini. You choose.
- 'What is Antigravity?' — Google's agent-first IDE (VS Code fork), released Nov 2025. Free public preview. Runs Gemini 3.1 Pro by default but also supports Claude Sonnet/Opus 4.6. Up to 5 parallel agents. Built-in Chrome browser. Your VS Code extensions carry over.
- 'What's the difference between Antigravity and Gemini Code Assist?' — Antigravity is a full standalone IDE (agent-first). Gemini Code Assist is an extension for existing IDEs (VS Code, JetBrains). Use Antigravity for greenfield/agent-heavy work, Code Assist for day-to-day coding in your existing setup.
- Costs: Claude Pro ~$20/mo, Copilot from $10/mo, Antigravity free in preview, Gemini Code Assist has a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B4D8"/>
          </a:solidFill>
          <a:ln w="12700">
            <a:solidFill>
              <a:srgbClr val="00B4D8"/>
            </a:solidFill>
            <a:prstDash val="solid"/>
          </a:ln>
        </p:spPr>
      </p:sp>
      <p:sp>
        <p:nvSpPr>
          <p:cNvPr id="3" name="Shape 1"/>
          <p:cNvSpPr/>
          <p:nvPr/>
        </p:nvSpPr>
        <p:spPr>
          <a:xfrm>
            <a:off x="457200" y="0"/>
            <a:ext cx="137160" cy="5143500"/>
          </a:xfrm>
          <a:prstGeom prst="rect">
            <a:avLst/>
          </a:prstGeom>
          <a:solidFill>
            <a:srgbClr val="0077B6"/>
          </a:solidFill>
          <a:ln w="12700">
            <a:solidFill>
              <a:srgbClr val="0077B6"/>
            </a:solidFill>
            <a:prstDash val="solid"/>
          </a:ln>
        </p:spPr>
      </p:sp>
      <p:sp>
        <p:nvSpPr>
          <p:cNvPr id="4" name="Shape 2"/>
          <p:cNvSpPr/>
          <p:nvPr/>
        </p:nvSpPr>
        <p:spPr>
          <a:xfrm>
            <a:off x="7772400" y="3200400"/>
            <a:ext cx="1371600" cy="1943100"/>
          </a:xfrm>
          <a:prstGeom prst="rect">
            <a:avLst/>
          </a:prstGeom>
          <a:solidFill>
            <a:srgbClr val="1A3060"/>
          </a:solidFill>
          <a:ln w="12700">
            <a:solidFill>
              <a:srgbClr val="1A3060"/>
            </a:solidFill>
            <a:prstDash val="solid"/>
          </a:ln>
        </p:spPr>
      </p:sp>
      <p:sp>
        <p:nvSpPr>
          <p:cNvPr id="5" name="Shape 3"/>
          <p:cNvSpPr/>
          <p:nvPr/>
        </p:nvSpPr>
        <p:spPr>
          <a:xfrm>
            <a:off x="8686800" y="0"/>
            <a:ext cx="457200" cy="5143500"/>
          </a:xfrm>
          <a:prstGeom prst="rect">
            <a:avLst/>
          </a:prstGeom>
          <a:solidFill>
            <a:srgbClr val="0077B6">
              <a:alpha val="40000"/>
            </a:srgbClr>
          </a:solidFill>
          <a:ln w="12700">
            <a:solidFill>
              <a:srgbClr val="0077B6">
                <a:alpha val="40000"/>
              </a:srgbClr>
            </a:solidFill>
            <a:prstDash val="solid"/>
          </a:ln>
        </p:spPr>
      </p:sp>
      <p:sp>
        <p:nvSpPr>
          <p:cNvPr id="6" name="Shape 4"/>
          <p:cNvSpPr/>
          <p:nvPr/>
        </p:nvSpPr>
        <p:spPr>
          <a:xfrm>
            <a:off x="822960" y="914400"/>
            <a:ext cx="2926080" cy="347472"/>
          </a:xfrm>
          <a:prstGeom prst="rect">
            <a:avLst/>
          </a:prstGeom>
          <a:solidFill>
            <a:srgbClr val="00B4D8"/>
          </a:solidFill>
          <a:ln w="12700">
            <a:solidFill>
              <a:srgbClr val="00B4D8"/>
            </a:solidFill>
            <a:prstDash val="solid"/>
          </a:ln>
        </p:spPr>
      </p:sp>
      <p:sp>
        <p:nvSpPr>
          <p:cNvPr id="7" name="Text 5"/>
          <p:cNvSpPr/>
          <p:nvPr/>
        </p:nvSpPr>
        <p:spPr>
          <a:xfrm>
            <a:off x="822960" y="914400"/>
            <a:ext cx="2926080" cy="347472"/>
          </a:xfrm>
          <a:prstGeom prst="rect">
            <a:avLst/>
          </a:prstGeom>
          <a:noFill/>
          <a:ln/>
        </p:spPr>
        <p:txBody>
          <a:bodyPr wrap="square" lIns="0" tIns="0" rIns="0" bIns="0" rtlCol="0" anchor="ctr"/>
          <a:lstStyle/>
          <a:p>
            <a:pPr algn="ctr" indent="0" marL="0">
              <a:buNone/>
            </a:pPr>
            <a:r>
              <a:rPr lang="en-US" sz="800" b="1" dirty="0">
                <a:solidFill>
                  <a:srgbClr val="0F1F3D"/>
                </a:solidFill>
              </a:rPr>
              <a:t>ARCHITECTURE × ARTIFICIAL INTELLIGENCE</a:t>
            </a:r>
            <a:endParaRPr lang="en-US" sz="800" dirty="0"/>
          </a:p>
        </p:txBody>
      </p:sp>
      <p:sp>
        <p:nvSpPr>
          <p:cNvPr id="8" name="Text 6"/>
          <p:cNvSpPr/>
          <p:nvPr/>
        </p:nvSpPr>
        <p:spPr>
          <a:xfrm>
            <a:off x="777240" y="1417320"/>
            <a:ext cx="731520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AI Tools for Architects</a:t>
            </a:r>
            <a:endParaRPr lang="en-US" sz="4000" dirty="0"/>
          </a:p>
        </p:txBody>
      </p:sp>
      <p:sp>
        <p:nvSpPr>
          <p:cNvPr id="9" name="Text 7"/>
          <p:cNvSpPr/>
          <p:nvPr/>
        </p:nvSpPr>
        <p:spPr>
          <a:xfrm>
            <a:off x="777240" y="2331720"/>
            <a:ext cx="7315200" cy="731520"/>
          </a:xfrm>
          <a:prstGeom prst="rect">
            <a:avLst/>
          </a:prstGeom>
          <a:noFill/>
          <a:ln/>
        </p:spPr>
        <p:txBody>
          <a:bodyPr wrap="square" rtlCol="0" anchor="ctr"/>
          <a:lstStyle/>
          <a:p>
            <a:pPr indent="0" marL="0">
              <a:buNone/>
            </a:pPr>
            <a:r>
              <a:rPr lang="en-US" sz="2800" i="1" dirty="0">
                <a:solidFill>
                  <a:srgbClr val="00B4D8"/>
                </a:solidFill>
                <a:latin typeface="Calibri" pitchFamily="34" charset="0"/>
                <a:ea typeface="Calibri" pitchFamily="34" charset="-122"/>
                <a:cs typeface="Calibri" pitchFamily="34" charset="-120"/>
              </a:rPr>
              <a:t>Beyond Code Generation</a:t>
            </a:r>
            <a:endParaRPr lang="en-US" sz="2800" dirty="0"/>
          </a:p>
        </p:txBody>
      </p:sp>
      <p:sp>
        <p:nvSpPr>
          <p:cNvPr id="10" name="Shape 8"/>
          <p:cNvSpPr/>
          <p:nvPr/>
        </p:nvSpPr>
        <p:spPr>
          <a:xfrm>
            <a:off x="822960" y="3291840"/>
            <a:ext cx="1234440" cy="347472"/>
          </a:xfrm>
          <a:prstGeom prst="rect">
            <a:avLst/>
          </a:prstGeom>
          <a:solidFill>
            <a:srgbClr val="D97706">
              <a:alpha val="80000"/>
            </a:srgbClr>
          </a:solidFill>
          <a:ln w="12700">
            <a:solidFill>
              <a:srgbClr val="D97706"/>
            </a:solidFill>
            <a:prstDash val="solid"/>
          </a:ln>
        </p:spPr>
      </p:sp>
      <p:sp>
        <p:nvSpPr>
          <p:cNvPr id="11" name="Text 9"/>
          <p:cNvSpPr/>
          <p:nvPr/>
        </p:nvSpPr>
        <p:spPr>
          <a:xfrm>
            <a:off x="822960" y="3291840"/>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rPr>
              <a:t>Claude</a:t>
            </a:r>
            <a:endParaRPr lang="en-US" sz="1100" dirty="0"/>
          </a:p>
        </p:txBody>
      </p:sp>
      <p:sp>
        <p:nvSpPr>
          <p:cNvPr id="12" name="Shape 10"/>
          <p:cNvSpPr/>
          <p:nvPr/>
        </p:nvSpPr>
        <p:spPr>
          <a:xfrm>
            <a:off x="2194560" y="3291840"/>
            <a:ext cx="1737360" cy="347472"/>
          </a:xfrm>
          <a:prstGeom prst="rect">
            <a:avLst/>
          </a:prstGeom>
          <a:solidFill>
            <a:srgbClr val="1F883D">
              <a:alpha val="80000"/>
            </a:srgbClr>
          </a:solidFill>
          <a:ln w="12700">
            <a:solidFill>
              <a:srgbClr val="1F883D"/>
            </a:solidFill>
            <a:prstDash val="solid"/>
          </a:ln>
        </p:spPr>
      </p:sp>
      <p:sp>
        <p:nvSpPr>
          <p:cNvPr id="13" name="Text 11"/>
          <p:cNvSpPr/>
          <p:nvPr/>
        </p:nvSpPr>
        <p:spPr>
          <a:xfrm>
            <a:off x="2194560" y="3291840"/>
            <a:ext cx="1737360" cy="347472"/>
          </a:xfrm>
          <a:prstGeom prst="rect">
            <a:avLst/>
          </a:prstGeom>
          <a:noFill/>
          <a:ln/>
        </p:spPr>
        <p:txBody>
          <a:bodyPr wrap="square" lIns="0" tIns="0" rIns="0" bIns="0" rtlCol="0" anchor="ctr"/>
          <a:lstStyle/>
          <a:p>
            <a:pPr algn="ctr" indent="0" marL="0">
              <a:buNone/>
            </a:pPr>
            <a:r>
              <a:rPr lang="en-US" sz="1100" b="1" dirty="0">
                <a:solidFill>
                  <a:srgbClr val="FFFFFF"/>
                </a:solidFill>
              </a:rPr>
              <a:t>GitHub Copilot</a:t>
            </a:r>
            <a:endParaRPr lang="en-US" sz="1100" dirty="0"/>
          </a:p>
        </p:txBody>
      </p:sp>
      <p:sp>
        <p:nvSpPr>
          <p:cNvPr id="14" name="Shape 12"/>
          <p:cNvSpPr/>
          <p:nvPr/>
        </p:nvSpPr>
        <p:spPr>
          <a:xfrm>
            <a:off x="3931920" y="3291840"/>
            <a:ext cx="1737360" cy="347472"/>
          </a:xfrm>
          <a:prstGeom prst="rect">
            <a:avLst/>
          </a:prstGeom>
          <a:solidFill>
            <a:srgbClr val="4285F4">
              <a:alpha val="80000"/>
            </a:srgbClr>
          </a:solidFill>
          <a:ln w="12700">
            <a:solidFill>
              <a:srgbClr val="4285F4"/>
            </a:solidFill>
            <a:prstDash val="solid"/>
          </a:ln>
        </p:spPr>
      </p:sp>
      <p:sp>
        <p:nvSpPr>
          <p:cNvPr id="15" name="Text 13"/>
          <p:cNvSpPr/>
          <p:nvPr/>
        </p:nvSpPr>
        <p:spPr>
          <a:xfrm>
            <a:off x="3931920" y="3291840"/>
            <a:ext cx="1737360" cy="347472"/>
          </a:xfrm>
          <a:prstGeom prst="rect">
            <a:avLst/>
          </a:prstGeom>
          <a:noFill/>
          <a:ln/>
        </p:spPr>
        <p:txBody>
          <a:bodyPr wrap="square" lIns="0" tIns="0" rIns="0" bIns="0" rtlCol="0" anchor="ctr"/>
          <a:lstStyle/>
          <a:p>
            <a:pPr algn="ctr" indent="0" marL="0">
              <a:buNone/>
            </a:pPr>
            <a:r>
              <a:rPr lang="en-US" sz="1100" b="1" dirty="0">
                <a:solidFill>
                  <a:srgbClr val="FFFFFF"/>
                </a:solidFill>
              </a:rPr>
              <a:t>Gemini + Antigravity</a:t>
            </a:r>
            <a:endParaRPr lang="en-US" sz="1100" dirty="0"/>
          </a:p>
        </p:txBody>
      </p:sp>
      <p:sp>
        <p:nvSpPr>
          <p:cNvPr id="16" name="Text 14"/>
          <p:cNvSpPr/>
          <p:nvPr/>
        </p:nvSpPr>
        <p:spPr>
          <a:xfrm>
            <a:off x="777240" y="3794760"/>
            <a:ext cx="7498080" cy="41148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Practical use cases for Solution, Infrastructure &amp; Enterprise Architects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F3D"/>
          </a:solidFill>
          <a:ln w="12700">
            <a:solidFill>
              <a:srgbClr val="0F1F3D"/>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200" b="1" dirty="0">
                <a:solidFill>
                  <a:srgbClr val="FFFFFF"/>
                </a:solidFill>
              </a:rPr>
              <a:t>What Changed: The 2025–2026 Leap</a:t>
            </a:r>
            <a:endParaRPr lang="en-US" sz="2200" dirty="0"/>
          </a:p>
        </p:txBody>
      </p:sp>
      <p:sp>
        <p:nvSpPr>
          <p:cNvPr id="4" name="Shape 2"/>
          <p:cNvSpPr/>
          <p:nvPr/>
        </p:nvSpPr>
        <p:spPr>
          <a:xfrm>
            <a:off x="274320" y="1005840"/>
            <a:ext cx="2743200" cy="347472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05840"/>
            <a:ext cx="2743200" cy="109728"/>
          </a:xfrm>
          <a:prstGeom prst="rect">
            <a:avLst/>
          </a:prstGeom>
          <a:solidFill>
            <a:srgbClr val="00B4D8"/>
          </a:solidFill>
          <a:ln w="12700">
            <a:solidFill>
              <a:srgbClr val="00B4D8"/>
            </a:solidFill>
            <a:prstDash val="solid"/>
          </a:ln>
        </p:spPr>
      </p:sp>
      <p:pic>
        <p:nvPicPr>
          <p:cNvPr id="6" name="Image 0" descr="preencoded.png">    </p:cNvPr>
          <p:cNvPicPr>
            <a:picLocks noChangeAspect="1"/>
          </p:cNvPicPr>
          <p:nvPr/>
        </p:nvPicPr>
        <p:blipFill>
          <a:blip r:embed="rId1"/>
          <a:stretch>
            <a:fillRect/>
          </a:stretch>
        </p:blipFill>
        <p:spPr>
          <a:xfrm>
            <a:off x="1371600" y="1188720"/>
            <a:ext cx="548640" cy="548640"/>
          </a:xfrm>
          <a:prstGeom prst="rect">
            <a:avLst/>
          </a:prstGeom>
        </p:spPr>
      </p:pic>
      <p:sp>
        <p:nvSpPr>
          <p:cNvPr id="7" name="Text 4"/>
          <p:cNvSpPr/>
          <p:nvPr/>
        </p:nvSpPr>
        <p:spPr>
          <a:xfrm>
            <a:off x="411480" y="1874520"/>
            <a:ext cx="2468880" cy="457200"/>
          </a:xfrm>
          <a:prstGeom prst="rect">
            <a:avLst/>
          </a:prstGeom>
          <a:noFill/>
          <a:ln/>
        </p:spPr>
        <p:txBody>
          <a:bodyPr wrap="square" rtlCol="0" anchor="ctr"/>
          <a:lstStyle/>
          <a:p>
            <a:pPr algn="ctr" indent="0" marL="0">
              <a:buNone/>
            </a:pPr>
            <a:r>
              <a:rPr lang="en-US" sz="1300" b="1" dirty="0">
                <a:solidFill>
                  <a:srgbClr val="0F1F3D"/>
                </a:solidFill>
              </a:rPr>
              <a:t>Agentic Capabilities</a:t>
            </a:r>
            <a:endParaRPr lang="en-US" sz="1300" dirty="0"/>
          </a:p>
        </p:txBody>
      </p:sp>
      <p:sp>
        <p:nvSpPr>
          <p:cNvPr id="8" name="Text 5"/>
          <p:cNvSpPr/>
          <p:nvPr/>
        </p:nvSpPr>
        <p:spPr>
          <a:xfrm>
            <a:off x="457200" y="2377440"/>
            <a:ext cx="2377440" cy="1920240"/>
          </a:xfrm>
          <a:prstGeom prst="rect">
            <a:avLst/>
          </a:prstGeom>
          <a:noFill/>
          <a:ln/>
        </p:spPr>
        <p:txBody>
          <a:bodyPr wrap="square" rtlCol="0" anchor="t"/>
          <a:lstStyle/>
          <a:p>
            <a:pPr algn="l" indent="0" marL="0">
              <a:buNone/>
            </a:pPr>
            <a:r>
              <a:rPr lang="en-US" sz="1000" dirty="0">
                <a:solidFill>
                  <a:srgbClr val="475569"/>
                </a:solidFill>
              </a:rPr>
              <a:t>All three tools now operate as agents — not just suggesting code, but autonomously planning, executing multi-step tasks, and iterating on their own output. Copilot has a coding agent that creates PRs from issues. Claude Code runs shell commands and edits files. Gemini Code Assist has full agent mode.</a:t>
            </a:r>
            <a:endParaRPr lang="en-US" sz="1000" dirty="0"/>
          </a:p>
        </p:txBody>
      </p:sp>
      <p:sp>
        <p:nvSpPr>
          <p:cNvPr id="9" name="Shape 6"/>
          <p:cNvSpPr/>
          <p:nvPr/>
        </p:nvSpPr>
        <p:spPr>
          <a:xfrm>
            <a:off x="3200400" y="1005840"/>
            <a:ext cx="2743200" cy="347472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3200400" y="1005840"/>
            <a:ext cx="2743200" cy="109728"/>
          </a:xfrm>
          <a:prstGeom prst="rect">
            <a:avLst/>
          </a:prstGeom>
          <a:solidFill>
            <a:srgbClr val="D97706"/>
          </a:solidFill>
          <a:ln w="12700">
            <a:solidFill>
              <a:srgbClr val="D97706"/>
            </a:solidFill>
            <a:prstDash val="solid"/>
          </a:ln>
        </p:spPr>
      </p:sp>
      <p:pic>
        <p:nvPicPr>
          <p:cNvPr id="11" name="Image 1" descr="preencoded.png">    </p:cNvPr>
          <p:cNvPicPr>
            <a:picLocks noChangeAspect="1"/>
          </p:cNvPicPr>
          <p:nvPr/>
        </p:nvPicPr>
        <p:blipFill>
          <a:blip r:embed="rId2"/>
          <a:stretch>
            <a:fillRect/>
          </a:stretch>
        </p:blipFill>
        <p:spPr>
          <a:xfrm>
            <a:off x="4297680" y="1188720"/>
            <a:ext cx="548640" cy="548640"/>
          </a:xfrm>
          <a:prstGeom prst="rect">
            <a:avLst/>
          </a:prstGeom>
        </p:spPr>
      </p:pic>
      <p:sp>
        <p:nvSpPr>
          <p:cNvPr id="12" name="Text 8"/>
          <p:cNvSpPr/>
          <p:nvPr/>
        </p:nvSpPr>
        <p:spPr>
          <a:xfrm>
            <a:off x="3337560" y="1874520"/>
            <a:ext cx="2468880" cy="457200"/>
          </a:xfrm>
          <a:prstGeom prst="rect">
            <a:avLst/>
          </a:prstGeom>
          <a:noFill/>
          <a:ln/>
        </p:spPr>
        <p:txBody>
          <a:bodyPr wrap="square" rtlCol="0" anchor="ctr"/>
          <a:lstStyle/>
          <a:p>
            <a:pPr algn="ctr" indent="0" marL="0">
              <a:buNone/>
            </a:pPr>
            <a:r>
              <a:rPr lang="en-US" sz="1300" b="1" dirty="0">
                <a:solidFill>
                  <a:srgbClr val="0F1F3D"/>
                </a:solidFill>
              </a:rPr>
              <a:t>Massive Context Windows</a:t>
            </a:r>
            <a:endParaRPr lang="en-US" sz="1300" dirty="0"/>
          </a:p>
        </p:txBody>
      </p:sp>
      <p:sp>
        <p:nvSpPr>
          <p:cNvPr id="13" name="Text 9"/>
          <p:cNvSpPr/>
          <p:nvPr/>
        </p:nvSpPr>
        <p:spPr>
          <a:xfrm>
            <a:off x="3383280" y="2377440"/>
            <a:ext cx="2377440" cy="1920240"/>
          </a:xfrm>
          <a:prstGeom prst="rect">
            <a:avLst/>
          </a:prstGeom>
          <a:noFill/>
          <a:ln/>
        </p:spPr>
        <p:txBody>
          <a:bodyPr wrap="square" rtlCol="0" anchor="t"/>
          <a:lstStyle/>
          <a:p>
            <a:pPr algn="l" indent="0" marL="0">
              <a:buNone/>
            </a:pPr>
            <a:r>
              <a:rPr lang="en-US" sz="1000" dirty="0">
                <a:solidFill>
                  <a:srgbClr val="475569"/>
                </a:solidFill>
              </a:rPr>
              <a:t>Claude supports 200K+ tokens. Gemini offers 1M+ tokens. This means entire codebases, not just files, can be analysed in a single session — transforming architecture understanding from guesswork to comprehensive analysis.</a:t>
            </a:r>
            <a:endParaRPr lang="en-US" sz="1000" dirty="0"/>
          </a:p>
        </p:txBody>
      </p:sp>
      <p:sp>
        <p:nvSpPr>
          <p:cNvPr id="14" name="Shape 10"/>
          <p:cNvSpPr/>
          <p:nvPr/>
        </p:nvSpPr>
        <p:spPr>
          <a:xfrm>
            <a:off x="6126480" y="1005840"/>
            <a:ext cx="2743200" cy="3474720"/>
          </a:xfrm>
          <a:prstGeom prst="rect">
            <a:avLst/>
          </a:prstGeom>
          <a:solidFill>
            <a:srgbClr val="FFFFFF"/>
          </a:solidFill>
          <a:ln w="12700">
            <a:solidFill>
              <a:srgbClr val="D1D5DB"/>
            </a:solidFill>
            <a:prstDash val="solid"/>
          </a:ln>
          <a:effectLst>
            <a:outerShdw sx="100000" sy="100000" kx="0" ky="0" algn="bl" rotWithShape="0" blurRad="101600" dist="38100" dir="8100000">
              <a:srgbClr val="000000">
                <a:alpha val="12000"/>
              </a:srgbClr>
            </a:outerShdw>
          </a:effectLst>
        </p:spPr>
      </p:sp>
      <p:sp>
        <p:nvSpPr>
          <p:cNvPr id="15" name="Shape 11"/>
          <p:cNvSpPr/>
          <p:nvPr/>
        </p:nvSpPr>
        <p:spPr>
          <a:xfrm>
            <a:off x="6126480" y="1005840"/>
            <a:ext cx="2743200" cy="109728"/>
          </a:xfrm>
          <a:prstGeom prst="rect">
            <a:avLst/>
          </a:prstGeom>
          <a:solidFill>
            <a:srgbClr val="1F883D"/>
          </a:solidFill>
          <a:ln w="12700">
            <a:solidFill>
              <a:srgbClr val="1F883D"/>
            </a:solidFill>
            <a:prstDash val="solid"/>
          </a:ln>
        </p:spPr>
      </p:sp>
      <p:pic>
        <p:nvPicPr>
          <p:cNvPr id="16" name="Image 2" descr="preencoded.png">    </p:cNvPr>
          <p:cNvPicPr>
            <a:picLocks noChangeAspect="1"/>
          </p:cNvPicPr>
          <p:nvPr/>
        </p:nvPicPr>
        <p:blipFill>
          <a:blip r:embed="rId3"/>
          <a:stretch>
            <a:fillRect/>
          </a:stretch>
        </p:blipFill>
        <p:spPr>
          <a:xfrm>
            <a:off x="7223760" y="1188720"/>
            <a:ext cx="548640" cy="548640"/>
          </a:xfrm>
          <a:prstGeom prst="rect">
            <a:avLst/>
          </a:prstGeom>
        </p:spPr>
      </p:pic>
      <p:sp>
        <p:nvSpPr>
          <p:cNvPr id="17" name="Text 12"/>
          <p:cNvSpPr/>
          <p:nvPr/>
        </p:nvSpPr>
        <p:spPr>
          <a:xfrm>
            <a:off x="6263640" y="1874520"/>
            <a:ext cx="2468880" cy="457200"/>
          </a:xfrm>
          <a:prstGeom prst="rect">
            <a:avLst/>
          </a:prstGeom>
          <a:noFill/>
          <a:ln/>
        </p:spPr>
        <p:txBody>
          <a:bodyPr wrap="square" rtlCol="0" anchor="ctr"/>
          <a:lstStyle/>
          <a:p>
            <a:pPr algn="ctr" indent="0" marL="0">
              <a:buNone/>
            </a:pPr>
            <a:r>
              <a:rPr lang="en-US" sz="1300" b="1" dirty="0">
                <a:solidFill>
                  <a:srgbClr val="0F1F3D"/>
                </a:solidFill>
              </a:rPr>
              <a:t>Built-in Security &amp; Review</a:t>
            </a:r>
            <a:endParaRPr lang="en-US" sz="1300" dirty="0"/>
          </a:p>
        </p:txBody>
      </p:sp>
      <p:sp>
        <p:nvSpPr>
          <p:cNvPr id="18" name="Text 13"/>
          <p:cNvSpPr/>
          <p:nvPr/>
        </p:nvSpPr>
        <p:spPr>
          <a:xfrm>
            <a:off x="6309360" y="2377440"/>
            <a:ext cx="2377440" cy="1920240"/>
          </a:xfrm>
          <a:prstGeom prst="rect">
            <a:avLst/>
          </a:prstGeom>
          <a:noFill/>
          <a:ln/>
        </p:spPr>
        <p:txBody>
          <a:bodyPr wrap="square" rtlCol="0" anchor="t"/>
          <a:lstStyle/>
          <a:p>
            <a:pPr algn="l" indent="0" marL="0">
              <a:buNone/>
            </a:pPr>
            <a:r>
              <a:rPr lang="en-US" sz="1000" dirty="0">
                <a:solidFill>
                  <a:srgbClr val="475569"/>
                </a:solidFill>
              </a:rPr>
              <a:t>Copilot now runs code scanning, secret scanning, and dependency checks inside its agent workflow. Gemini does automated PR reviews on GitHub. Claude's multi-agent system can reason about threat models holistically.</a:t>
            </a:r>
            <a:endParaRPr lang="en-US" sz="1000" dirty="0"/>
          </a:p>
        </p:txBody>
      </p:sp>
      <p:sp>
        <p:nvSpPr>
          <p:cNvPr id="19" name="Text 14"/>
          <p:cNvSpPr/>
          <p:nvPr/>
        </p:nvSpPr>
        <p:spPr>
          <a:xfrm>
            <a:off x="457200" y="4617720"/>
            <a:ext cx="8229600" cy="411480"/>
          </a:xfrm>
          <a:prstGeom prst="rect">
            <a:avLst/>
          </a:prstGeom>
          <a:noFill/>
          <a:ln/>
        </p:spPr>
        <p:txBody>
          <a:bodyPr wrap="square" rtlCol="0" anchor="ctr"/>
          <a:lstStyle/>
          <a:p>
            <a:pPr algn="ctr" indent="0" marL="0">
              <a:buNone/>
            </a:pPr>
            <a:r>
              <a:rPr lang="en-US" sz="1200" b="1" i="1" dirty="0">
                <a:solidFill>
                  <a:srgbClr val="0077B6"/>
                </a:solidFill>
              </a:rPr>
              <a:t>These capabilities move AI tools from 'coding assistants' to 'architecture collaborators'.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060"/>
          </a:solidFill>
          <a:ln w="12700">
            <a:solidFill>
              <a:srgbClr val="1A3060"/>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000" b="1" dirty="0">
                <a:solidFill>
                  <a:srgbClr val="FFFFFF"/>
                </a:solidFill>
              </a:rPr>
              <a:t>Three Tools, Three Architectural Superpowers</a:t>
            </a:r>
            <a:endParaRPr lang="en-US" sz="2000" dirty="0"/>
          </a:p>
        </p:txBody>
      </p:sp>
      <p:sp>
        <p:nvSpPr>
          <p:cNvPr id="4" name="Shape 2"/>
          <p:cNvSpPr/>
          <p:nvPr/>
        </p:nvSpPr>
        <p:spPr>
          <a:xfrm>
            <a:off x="201168" y="960120"/>
            <a:ext cx="2743200" cy="3794760"/>
          </a:xfrm>
          <a:prstGeom prst="rect">
            <a:avLst/>
          </a:prstGeom>
          <a:solidFill>
            <a:srgbClr val="1A3060"/>
          </a:solidFill>
          <a:ln w="12700">
            <a:solidFill>
              <a:srgbClr val="D97706"/>
            </a:solidFill>
            <a:prstDash val="solid"/>
          </a:ln>
        </p:spPr>
      </p:sp>
      <p:sp>
        <p:nvSpPr>
          <p:cNvPr id="5" name="Shape 3"/>
          <p:cNvSpPr/>
          <p:nvPr/>
        </p:nvSpPr>
        <p:spPr>
          <a:xfrm>
            <a:off x="201168" y="960120"/>
            <a:ext cx="2743200" cy="73152"/>
          </a:xfrm>
          <a:prstGeom prst="rect">
            <a:avLst/>
          </a:prstGeom>
          <a:solidFill>
            <a:srgbClr val="D97706"/>
          </a:solidFill>
          <a:ln w="12700">
            <a:solidFill>
              <a:srgbClr val="D97706"/>
            </a:solidFill>
            <a:prstDash val="solid"/>
          </a:ln>
        </p:spPr>
      </p:sp>
      <p:sp>
        <p:nvSpPr>
          <p:cNvPr id="6" name="Text 4"/>
          <p:cNvSpPr/>
          <p:nvPr/>
        </p:nvSpPr>
        <p:spPr>
          <a:xfrm>
            <a:off x="338328" y="1097280"/>
            <a:ext cx="2468880" cy="384048"/>
          </a:xfrm>
          <a:prstGeom prst="rect">
            <a:avLst/>
          </a:prstGeom>
          <a:noFill/>
          <a:ln/>
        </p:spPr>
        <p:txBody>
          <a:bodyPr wrap="square" rtlCol="0" anchor="ctr"/>
          <a:lstStyle/>
          <a:p>
            <a:pPr algn="ctr" indent="0" marL="0">
              <a:buNone/>
            </a:pPr>
            <a:r>
              <a:rPr lang="en-US" sz="1800" b="1" dirty="0">
                <a:solidFill>
                  <a:srgbClr val="D97706"/>
                </a:solidFill>
              </a:rPr>
              <a:t>Claude</a:t>
            </a:r>
            <a:endParaRPr lang="en-US" sz="1800" dirty="0"/>
          </a:p>
        </p:txBody>
      </p:sp>
      <p:sp>
        <p:nvSpPr>
          <p:cNvPr id="7" name="Text 5"/>
          <p:cNvSpPr/>
          <p:nvPr/>
        </p:nvSpPr>
        <p:spPr>
          <a:xfrm>
            <a:off x="338328" y="1463040"/>
            <a:ext cx="2468880" cy="274320"/>
          </a:xfrm>
          <a:prstGeom prst="rect">
            <a:avLst/>
          </a:prstGeom>
          <a:noFill/>
          <a:ln/>
        </p:spPr>
        <p:txBody>
          <a:bodyPr wrap="square" rtlCol="0" anchor="ctr"/>
          <a:lstStyle/>
          <a:p>
            <a:pPr algn="ctr" indent="0" marL="0">
              <a:buNone/>
            </a:pPr>
            <a:r>
              <a:rPr lang="en-US" sz="1000" i="1" dirty="0">
                <a:solidFill>
                  <a:srgbClr val="94A3B8"/>
                </a:solidFill>
              </a:rPr>
              <a:t>The Architecture Reasoner</a:t>
            </a:r>
            <a:endParaRPr lang="en-US" sz="1000" dirty="0"/>
          </a:p>
        </p:txBody>
      </p:sp>
      <p:sp>
        <p:nvSpPr>
          <p:cNvPr id="8" name="Shape 6"/>
          <p:cNvSpPr/>
          <p:nvPr/>
        </p:nvSpPr>
        <p:spPr>
          <a:xfrm>
            <a:off x="475488" y="1810512"/>
            <a:ext cx="2194560" cy="0"/>
          </a:xfrm>
          <a:prstGeom prst="line">
            <a:avLst/>
          </a:prstGeom>
          <a:noFill/>
          <a:ln w="12700">
            <a:solidFill>
              <a:srgbClr val="D97706">
                <a:alpha val="40000"/>
              </a:srgbClr>
            </a:solidFill>
            <a:prstDash val="solid"/>
          </a:ln>
        </p:spPr>
      </p:sp>
      <p:sp>
        <p:nvSpPr>
          <p:cNvPr id="9" name="Text 7"/>
          <p:cNvSpPr/>
          <p:nvPr/>
        </p:nvSpPr>
        <p:spPr>
          <a:xfrm>
            <a:off x="338328" y="1901952"/>
            <a:ext cx="2468880" cy="310896"/>
          </a:xfrm>
          <a:prstGeom prst="rect">
            <a:avLst/>
          </a:prstGeom>
          <a:noFill/>
          <a:ln/>
        </p:spPr>
        <p:txBody>
          <a:bodyPr wrap="square" rtlCol="0" anchor="ctr"/>
          <a:lstStyle/>
          <a:p>
            <a:pPr indent="0" marL="0">
              <a:buNone/>
            </a:pPr>
            <a:r>
              <a:rPr lang="en-US" sz="1000" b="1" dirty="0">
                <a:solidFill>
                  <a:srgbClr val="D97706"/>
                </a:solidFill>
              </a:rPr>
              <a:t>▸  </a:t>
            </a:r>
            <a:pPr indent="0" marL="0">
              <a:buNone/>
            </a:pPr>
            <a:r>
              <a:rPr lang="en-US" sz="1000" dirty="0">
                <a:solidFill>
                  <a:srgbClr val="FFFFFF"/>
                </a:solidFill>
              </a:rPr>
              <a:t>Deep reasoning + 200K context</a:t>
            </a:r>
            <a:endParaRPr lang="en-US" sz="1000" dirty="0"/>
          </a:p>
        </p:txBody>
      </p:sp>
      <p:sp>
        <p:nvSpPr>
          <p:cNvPr id="10" name="Text 8"/>
          <p:cNvSpPr/>
          <p:nvPr/>
        </p:nvSpPr>
        <p:spPr>
          <a:xfrm>
            <a:off x="338328" y="2249424"/>
            <a:ext cx="2468880" cy="310896"/>
          </a:xfrm>
          <a:prstGeom prst="rect">
            <a:avLst/>
          </a:prstGeom>
          <a:noFill/>
          <a:ln/>
        </p:spPr>
        <p:txBody>
          <a:bodyPr wrap="square" rtlCol="0" anchor="ctr"/>
          <a:lstStyle/>
          <a:p>
            <a:pPr indent="0" marL="0">
              <a:buNone/>
            </a:pPr>
            <a:r>
              <a:rPr lang="en-US" sz="1000" b="1" dirty="0">
                <a:solidFill>
                  <a:srgbClr val="D97706"/>
                </a:solidFill>
              </a:rPr>
              <a:t>▸  </a:t>
            </a:r>
            <a:pPr indent="0" marL="0">
              <a:buNone/>
            </a:pPr>
            <a:r>
              <a:rPr lang="en-US" sz="1000" dirty="0">
                <a:solidFill>
                  <a:srgbClr val="FFFFFF"/>
                </a:solidFill>
              </a:rPr>
              <a:t>Claude Code: agentic CLI (shell + files)</a:t>
            </a:r>
            <a:endParaRPr lang="en-US" sz="1000" dirty="0"/>
          </a:p>
        </p:txBody>
      </p:sp>
      <p:sp>
        <p:nvSpPr>
          <p:cNvPr id="11" name="Text 9"/>
          <p:cNvSpPr/>
          <p:nvPr/>
        </p:nvSpPr>
        <p:spPr>
          <a:xfrm>
            <a:off x="338328" y="2596896"/>
            <a:ext cx="2468880" cy="310896"/>
          </a:xfrm>
          <a:prstGeom prst="rect">
            <a:avLst/>
          </a:prstGeom>
          <a:noFill/>
          <a:ln/>
        </p:spPr>
        <p:txBody>
          <a:bodyPr wrap="square" rtlCol="0" anchor="ctr"/>
          <a:lstStyle/>
          <a:p>
            <a:pPr indent="0" marL="0">
              <a:buNone/>
            </a:pPr>
            <a:r>
              <a:rPr lang="en-US" sz="1000" b="1" dirty="0">
                <a:solidFill>
                  <a:srgbClr val="D97706"/>
                </a:solidFill>
              </a:rPr>
              <a:t>▸  </a:t>
            </a:r>
            <a:pPr indent="0" marL="0">
              <a:buNone/>
            </a:pPr>
            <a:r>
              <a:rPr lang="en-US" sz="1000" dirty="0">
                <a:solidFill>
                  <a:srgbClr val="FFFFFF"/>
                </a:solidFill>
              </a:rPr>
              <a:t>Multi-agent: sub-agents for parallel tasks</a:t>
            </a:r>
            <a:endParaRPr lang="en-US" sz="1000" dirty="0"/>
          </a:p>
        </p:txBody>
      </p:sp>
      <p:sp>
        <p:nvSpPr>
          <p:cNvPr id="12" name="Text 10"/>
          <p:cNvSpPr/>
          <p:nvPr/>
        </p:nvSpPr>
        <p:spPr>
          <a:xfrm>
            <a:off x="338328" y="2944368"/>
            <a:ext cx="2468880" cy="310896"/>
          </a:xfrm>
          <a:prstGeom prst="rect">
            <a:avLst/>
          </a:prstGeom>
          <a:noFill/>
          <a:ln/>
        </p:spPr>
        <p:txBody>
          <a:bodyPr wrap="square" rtlCol="0" anchor="ctr"/>
          <a:lstStyle/>
          <a:p>
            <a:pPr indent="0" marL="0">
              <a:buNone/>
            </a:pPr>
            <a:r>
              <a:rPr lang="en-US" sz="1000" b="1" dirty="0">
                <a:solidFill>
                  <a:srgbClr val="D97706"/>
                </a:solidFill>
              </a:rPr>
              <a:t>▸  </a:t>
            </a:r>
            <a:pPr indent="0" marL="0">
              <a:buNone/>
            </a:pPr>
            <a:r>
              <a:rPr lang="en-US" sz="1000" dirty="0">
                <a:solidFill>
                  <a:srgbClr val="FFFFFF"/>
                </a:solidFill>
              </a:rPr>
              <a:t>TOGAF artefacts, ADRs, trade-off analysis</a:t>
            </a:r>
            <a:endParaRPr lang="en-US" sz="1000" dirty="0"/>
          </a:p>
        </p:txBody>
      </p:sp>
      <p:sp>
        <p:nvSpPr>
          <p:cNvPr id="13" name="Text 11"/>
          <p:cNvSpPr/>
          <p:nvPr/>
        </p:nvSpPr>
        <p:spPr>
          <a:xfrm>
            <a:off x="338328" y="3291840"/>
            <a:ext cx="2468880" cy="310896"/>
          </a:xfrm>
          <a:prstGeom prst="rect">
            <a:avLst/>
          </a:prstGeom>
          <a:noFill/>
          <a:ln/>
        </p:spPr>
        <p:txBody>
          <a:bodyPr wrap="square" rtlCol="0" anchor="ctr"/>
          <a:lstStyle/>
          <a:p>
            <a:pPr indent="0" marL="0">
              <a:buNone/>
            </a:pPr>
            <a:r>
              <a:rPr lang="en-US" sz="1000" b="1" dirty="0">
                <a:solidFill>
                  <a:srgbClr val="D97706"/>
                </a:solidFill>
              </a:rPr>
              <a:t>▸  </a:t>
            </a:r>
            <a:pPr indent="0" marL="0">
              <a:buNone/>
            </a:pPr>
            <a:r>
              <a:rPr lang="en-US" sz="1000" dirty="0">
                <a:solidFill>
                  <a:srgbClr val="FFFFFF"/>
                </a:solidFill>
              </a:rPr>
              <a:t>Projects for persistent architecture context</a:t>
            </a:r>
            <a:endParaRPr lang="en-US" sz="1000" dirty="0"/>
          </a:p>
        </p:txBody>
      </p:sp>
      <p:sp>
        <p:nvSpPr>
          <p:cNvPr id="14" name="Shape 12"/>
          <p:cNvSpPr/>
          <p:nvPr/>
        </p:nvSpPr>
        <p:spPr>
          <a:xfrm>
            <a:off x="292608" y="3977640"/>
            <a:ext cx="2578608" cy="548640"/>
          </a:xfrm>
          <a:prstGeom prst="rect">
            <a:avLst/>
          </a:prstGeom>
          <a:solidFill>
            <a:srgbClr val="D97706">
              <a:alpha val="25000"/>
            </a:srgbClr>
          </a:solidFill>
          <a:ln w="12700">
            <a:solidFill>
              <a:srgbClr val="D97706"/>
            </a:solidFill>
            <a:prstDash val="solid"/>
          </a:ln>
        </p:spPr>
      </p:sp>
      <p:sp>
        <p:nvSpPr>
          <p:cNvPr id="15" name="Text 13"/>
          <p:cNvSpPr/>
          <p:nvPr/>
        </p:nvSpPr>
        <p:spPr>
          <a:xfrm>
            <a:off x="338328" y="3977640"/>
            <a:ext cx="2487168" cy="548640"/>
          </a:xfrm>
          <a:prstGeom prst="rect">
            <a:avLst/>
          </a:prstGeom>
          <a:noFill/>
          <a:ln/>
        </p:spPr>
        <p:txBody>
          <a:bodyPr wrap="square" rtlCol="0" anchor="ctr"/>
          <a:lstStyle/>
          <a:p>
            <a:pPr algn="ctr" indent="0" marL="0">
              <a:buNone/>
            </a:pPr>
            <a:r>
              <a:rPr lang="en-US" sz="850" i="1" dirty="0">
                <a:solidFill>
                  <a:srgbClr val="FFFFFF"/>
                </a:solidFill>
              </a:rPr>
              <a:t>Demo: Reverse-engineer codebase → Mermaid diagram + ADR</a:t>
            </a:r>
            <a:endParaRPr lang="en-US" sz="850" dirty="0"/>
          </a:p>
        </p:txBody>
      </p:sp>
      <p:sp>
        <p:nvSpPr>
          <p:cNvPr id="16" name="Shape 14"/>
          <p:cNvSpPr/>
          <p:nvPr/>
        </p:nvSpPr>
        <p:spPr>
          <a:xfrm>
            <a:off x="3145536" y="960120"/>
            <a:ext cx="2743200" cy="3794760"/>
          </a:xfrm>
          <a:prstGeom prst="rect">
            <a:avLst/>
          </a:prstGeom>
          <a:solidFill>
            <a:srgbClr val="1A3060"/>
          </a:solidFill>
          <a:ln w="12700">
            <a:solidFill>
              <a:srgbClr val="1F883D"/>
            </a:solidFill>
            <a:prstDash val="solid"/>
          </a:ln>
        </p:spPr>
      </p:sp>
      <p:sp>
        <p:nvSpPr>
          <p:cNvPr id="17" name="Shape 15"/>
          <p:cNvSpPr/>
          <p:nvPr/>
        </p:nvSpPr>
        <p:spPr>
          <a:xfrm>
            <a:off x="3145536" y="960120"/>
            <a:ext cx="2743200" cy="73152"/>
          </a:xfrm>
          <a:prstGeom prst="rect">
            <a:avLst/>
          </a:prstGeom>
          <a:solidFill>
            <a:srgbClr val="1F883D"/>
          </a:solidFill>
          <a:ln w="12700">
            <a:solidFill>
              <a:srgbClr val="1F883D"/>
            </a:solidFill>
            <a:prstDash val="solid"/>
          </a:ln>
        </p:spPr>
      </p:sp>
      <p:sp>
        <p:nvSpPr>
          <p:cNvPr id="18" name="Text 16"/>
          <p:cNvSpPr/>
          <p:nvPr/>
        </p:nvSpPr>
        <p:spPr>
          <a:xfrm>
            <a:off x="3282696" y="1097280"/>
            <a:ext cx="2468880" cy="384048"/>
          </a:xfrm>
          <a:prstGeom prst="rect">
            <a:avLst/>
          </a:prstGeom>
          <a:noFill/>
          <a:ln/>
        </p:spPr>
        <p:txBody>
          <a:bodyPr wrap="square" rtlCol="0" anchor="ctr"/>
          <a:lstStyle/>
          <a:p>
            <a:pPr algn="ctr" indent="0" marL="0">
              <a:buNone/>
            </a:pPr>
            <a:r>
              <a:rPr lang="en-US" sz="1800" b="1" dirty="0">
                <a:solidFill>
                  <a:srgbClr val="1F883D"/>
                </a:solidFill>
              </a:rPr>
              <a:t>GitHub Copilot</a:t>
            </a:r>
            <a:endParaRPr lang="en-US" sz="1800" dirty="0"/>
          </a:p>
        </p:txBody>
      </p:sp>
      <p:sp>
        <p:nvSpPr>
          <p:cNvPr id="19" name="Text 17"/>
          <p:cNvSpPr/>
          <p:nvPr/>
        </p:nvSpPr>
        <p:spPr>
          <a:xfrm>
            <a:off x="3282696" y="1463040"/>
            <a:ext cx="2468880" cy="274320"/>
          </a:xfrm>
          <a:prstGeom prst="rect">
            <a:avLst/>
          </a:prstGeom>
          <a:noFill/>
          <a:ln/>
        </p:spPr>
        <p:txBody>
          <a:bodyPr wrap="square" rtlCol="0" anchor="ctr"/>
          <a:lstStyle/>
          <a:p>
            <a:pPr algn="ctr" indent="0" marL="0">
              <a:buNone/>
            </a:pPr>
            <a:r>
              <a:rPr lang="en-US" sz="1000" i="1" dirty="0">
                <a:solidFill>
                  <a:srgbClr val="94A3B8"/>
                </a:solidFill>
              </a:rPr>
              <a:t>The Agentic DevOps Partner</a:t>
            </a:r>
            <a:endParaRPr lang="en-US" sz="1000" dirty="0"/>
          </a:p>
        </p:txBody>
      </p:sp>
      <p:sp>
        <p:nvSpPr>
          <p:cNvPr id="20" name="Shape 18"/>
          <p:cNvSpPr/>
          <p:nvPr/>
        </p:nvSpPr>
        <p:spPr>
          <a:xfrm>
            <a:off x="3419856" y="1810512"/>
            <a:ext cx="2194560" cy="0"/>
          </a:xfrm>
          <a:prstGeom prst="line">
            <a:avLst/>
          </a:prstGeom>
          <a:noFill/>
          <a:ln w="12700">
            <a:solidFill>
              <a:srgbClr val="1F883D">
                <a:alpha val="40000"/>
              </a:srgbClr>
            </a:solidFill>
            <a:prstDash val="solid"/>
          </a:ln>
        </p:spPr>
      </p:sp>
      <p:sp>
        <p:nvSpPr>
          <p:cNvPr id="21" name="Text 19"/>
          <p:cNvSpPr/>
          <p:nvPr/>
        </p:nvSpPr>
        <p:spPr>
          <a:xfrm>
            <a:off x="3282696" y="1901952"/>
            <a:ext cx="2468880" cy="310896"/>
          </a:xfrm>
          <a:prstGeom prst="rect">
            <a:avLst/>
          </a:prstGeom>
          <a:noFill/>
          <a:ln/>
        </p:spPr>
        <p:txBody>
          <a:bodyPr wrap="square" rtlCol="0" anchor="ctr"/>
          <a:lstStyle/>
          <a:p>
            <a:pPr indent="0" marL="0">
              <a:buNone/>
            </a:pPr>
            <a:r>
              <a:rPr lang="en-US" sz="1000" b="1" dirty="0">
                <a:solidFill>
                  <a:srgbClr val="1F883D"/>
                </a:solidFill>
              </a:rPr>
              <a:t>▸  </a:t>
            </a:r>
            <a:pPr indent="0" marL="0">
              <a:buNone/>
            </a:pPr>
            <a:r>
              <a:rPr lang="en-US" sz="1000" dirty="0">
                <a:solidFill>
                  <a:srgbClr val="FFFFFF"/>
                </a:solidFill>
              </a:rPr>
              <a:t>Coding agent: assign issues → auto-PRs</a:t>
            </a:r>
            <a:endParaRPr lang="en-US" sz="1000" dirty="0"/>
          </a:p>
        </p:txBody>
      </p:sp>
      <p:sp>
        <p:nvSpPr>
          <p:cNvPr id="22" name="Text 20"/>
          <p:cNvSpPr/>
          <p:nvPr/>
        </p:nvSpPr>
        <p:spPr>
          <a:xfrm>
            <a:off x="3282696" y="2249424"/>
            <a:ext cx="2468880" cy="310896"/>
          </a:xfrm>
          <a:prstGeom prst="rect">
            <a:avLst/>
          </a:prstGeom>
          <a:noFill/>
          <a:ln/>
        </p:spPr>
        <p:txBody>
          <a:bodyPr wrap="square" rtlCol="0" anchor="ctr"/>
          <a:lstStyle/>
          <a:p>
            <a:pPr indent="0" marL="0">
              <a:buNone/>
            </a:pPr>
            <a:r>
              <a:rPr lang="en-US" sz="1000" b="1" dirty="0">
                <a:solidFill>
                  <a:srgbClr val="1F883D"/>
                </a:solidFill>
              </a:rPr>
              <a:t>▸  </a:t>
            </a:r>
            <a:pPr indent="0" marL="0">
              <a:buNone/>
            </a:pPr>
            <a:r>
              <a:rPr lang="en-US" sz="1000" dirty="0">
                <a:solidFill>
                  <a:srgbClr val="FFFFFF"/>
                </a:solidFill>
              </a:rPr>
              <a:t>Agent mode: multi-file edits + self-healing</a:t>
            </a:r>
            <a:endParaRPr lang="en-US" sz="1000" dirty="0"/>
          </a:p>
        </p:txBody>
      </p:sp>
      <p:sp>
        <p:nvSpPr>
          <p:cNvPr id="23" name="Text 21"/>
          <p:cNvSpPr/>
          <p:nvPr/>
        </p:nvSpPr>
        <p:spPr>
          <a:xfrm>
            <a:off x="3282696" y="2596896"/>
            <a:ext cx="2468880" cy="310896"/>
          </a:xfrm>
          <a:prstGeom prst="rect">
            <a:avLst/>
          </a:prstGeom>
          <a:noFill/>
          <a:ln/>
        </p:spPr>
        <p:txBody>
          <a:bodyPr wrap="square" rtlCol="0" anchor="ctr"/>
          <a:lstStyle/>
          <a:p>
            <a:pPr indent="0" marL="0">
              <a:buNone/>
            </a:pPr>
            <a:r>
              <a:rPr lang="en-US" sz="1000" b="1" dirty="0">
                <a:solidFill>
                  <a:srgbClr val="1F883D"/>
                </a:solidFill>
              </a:rPr>
              <a:t>▸  </a:t>
            </a:r>
            <a:pPr indent="0" marL="0">
              <a:buNone/>
            </a:pPr>
            <a:r>
              <a:rPr lang="en-US" sz="1000" dirty="0">
                <a:solidFill>
                  <a:srgbClr val="FFFFFF"/>
                </a:solidFill>
              </a:rPr>
              <a:t>Built-in security scanning (code, secrets, deps)</a:t>
            </a:r>
            <a:endParaRPr lang="en-US" sz="1000" dirty="0"/>
          </a:p>
        </p:txBody>
      </p:sp>
      <p:sp>
        <p:nvSpPr>
          <p:cNvPr id="24" name="Text 22"/>
          <p:cNvSpPr/>
          <p:nvPr/>
        </p:nvSpPr>
        <p:spPr>
          <a:xfrm>
            <a:off x="3282696" y="2944368"/>
            <a:ext cx="2468880" cy="310896"/>
          </a:xfrm>
          <a:prstGeom prst="rect">
            <a:avLst/>
          </a:prstGeom>
          <a:noFill/>
          <a:ln/>
        </p:spPr>
        <p:txBody>
          <a:bodyPr wrap="square" rtlCol="0" anchor="ctr"/>
          <a:lstStyle/>
          <a:p>
            <a:pPr indent="0" marL="0">
              <a:buNone/>
            </a:pPr>
            <a:r>
              <a:rPr lang="en-US" sz="1000" b="1" dirty="0">
                <a:solidFill>
                  <a:srgbClr val="1F883D"/>
                </a:solidFill>
              </a:rPr>
              <a:t>▸  </a:t>
            </a:r>
            <a:pPr indent="0" marL="0">
              <a:buNone/>
            </a:pPr>
            <a:r>
              <a:rPr lang="en-US" sz="1000" dirty="0">
                <a:solidFill>
                  <a:srgbClr val="FFFFFF"/>
                </a:solidFill>
              </a:rPr>
              <a:t>Multi-model: GPT, Claude, Gemini inside Copilot</a:t>
            </a:r>
            <a:endParaRPr lang="en-US" sz="1000" dirty="0"/>
          </a:p>
        </p:txBody>
      </p:sp>
      <p:sp>
        <p:nvSpPr>
          <p:cNvPr id="25" name="Text 23"/>
          <p:cNvSpPr/>
          <p:nvPr/>
        </p:nvSpPr>
        <p:spPr>
          <a:xfrm>
            <a:off x="3282696" y="3291840"/>
            <a:ext cx="2468880" cy="310896"/>
          </a:xfrm>
          <a:prstGeom prst="rect">
            <a:avLst/>
          </a:prstGeom>
          <a:noFill/>
          <a:ln/>
        </p:spPr>
        <p:txBody>
          <a:bodyPr wrap="square" rtlCol="0" anchor="ctr"/>
          <a:lstStyle/>
          <a:p>
            <a:pPr indent="0" marL="0">
              <a:buNone/>
            </a:pPr>
            <a:r>
              <a:rPr lang="en-US" sz="1000" b="1" dirty="0">
                <a:solidFill>
                  <a:srgbClr val="1F883D"/>
                </a:solidFill>
              </a:rPr>
              <a:t>▸  </a:t>
            </a:r>
            <a:pPr indent="0" marL="0">
              <a:buNone/>
            </a:pPr>
            <a:r>
              <a:rPr lang="en-US" sz="1000" dirty="0">
                <a:solidFill>
                  <a:srgbClr val="FFFFFF"/>
                </a:solidFill>
              </a:rPr>
              <a:t>MCP integration for external tools + context</a:t>
            </a:r>
            <a:endParaRPr lang="en-US" sz="1000" dirty="0"/>
          </a:p>
        </p:txBody>
      </p:sp>
      <p:sp>
        <p:nvSpPr>
          <p:cNvPr id="26" name="Shape 24"/>
          <p:cNvSpPr/>
          <p:nvPr/>
        </p:nvSpPr>
        <p:spPr>
          <a:xfrm>
            <a:off x="3236976" y="3977640"/>
            <a:ext cx="2578608" cy="548640"/>
          </a:xfrm>
          <a:prstGeom prst="rect">
            <a:avLst/>
          </a:prstGeom>
          <a:solidFill>
            <a:srgbClr val="1F883D">
              <a:alpha val="25000"/>
            </a:srgbClr>
          </a:solidFill>
          <a:ln w="12700">
            <a:solidFill>
              <a:srgbClr val="1F883D"/>
            </a:solidFill>
            <a:prstDash val="solid"/>
          </a:ln>
        </p:spPr>
      </p:sp>
      <p:sp>
        <p:nvSpPr>
          <p:cNvPr id="27" name="Text 25"/>
          <p:cNvSpPr/>
          <p:nvPr/>
        </p:nvSpPr>
        <p:spPr>
          <a:xfrm>
            <a:off x="3282696" y="3977640"/>
            <a:ext cx="2487168" cy="548640"/>
          </a:xfrm>
          <a:prstGeom prst="rect">
            <a:avLst/>
          </a:prstGeom>
          <a:noFill/>
          <a:ln/>
        </p:spPr>
        <p:txBody>
          <a:bodyPr wrap="square" rtlCol="0" anchor="ctr"/>
          <a:lstStyle/>
          <a:p>
            <a:pPr algn="ctr" indent="0" marL="0">
              <a:buNone/>
            </a:pPr>
            <a:r>
              <a:rPr lang="en-US" sz="850" i="1" dirty="0">
                <a:solidFill>
                  <a:srgbClr val="FFFFFF"/>
                </a:solidFill>
              </a:rPr>
              <a:t>Demo: IaC scaffold + security scan + code explanation</a:t>
            </a:r>
            <a:endParaRPr lang="en-US" sz="850" dirty="0"/>
          </a:p>
        </p:txBody>
      </p:sp>
      <p:sp>
        <p:nvSpPr>
          <p:cNvPr id="28" name="Shape 26"/>
          <p:cNvSpPr/>
          <p:nvPr/>
        </p:nvSpPr>
        <p:spPr>
          <a:xfrm>
            <a:off x="6089904" y="960120"/>
            <a:ext cx="2743200" cy="3794760"/>
          </a:xfrm>
          <a:prstGeom prst="rect">
            <a:avLst/>
          </a:prstGeom>
          <a:solidFill>
            <a:srgbClr val="1A3060"/>
          </a:solidFill>
          <a:ln w="12700">
            <a:solidFill>
              <a:srgbClr val="4285F4"/>
            </a:solidFill>
            <a:prstDash val="solid"/>
          </a:ln>
        </p:spPr>
      </p:sp>
      <p:sp>
        <p:nvSpPr>
          <p:cNvPr id="29" name="Shape 27"/>
          <p:cNvSpPr/>
          <p:nvPr/>
        </p:nvSpPr>
        <p:spPr>
          <a:xfrm>
            <a:off x="6089904" y="960120"/>
            <a:ext cx="2743200" cy="73152"/>
          </a:xfrm>
          <a:prstGeom prst="rect">
            <a:avLst/>
          </a:prstGeom>
          <a:solidFill>
            <a:srgbClr val="4285F4"/>
          </a:solidFill>
          <a:ln w="12700">
            <a:solidFill>
              <a:srgbClr val="4285F4"/>
            </a:solidFill>
            <a:prstDash val="solid"/>
          </a:ln>
        </p:spPr>
      </p:sp>
      <p:sp>
        <p:nvSpPr>
          <p:cNvPr id="30" name="Text 28"/>
          <p:cNvSpPr/>
          <p:nvPr/>
        </p:nvSpPr>
        <p:spPr>
          <a:xfrm>
            <a:off x="6227064" y="1097280"/>
            <a:ext cx="2468880" cy="384048"/>
          </a:xfrm>
          <a:prstGeom prst="rect">
            <a:avLst/>
          </a:prstGeom>
          <a:noFill/>
          <a:ln/>
        </p:spPr>
        <p:txBody>
          <a:bodyPr wrap="square" rtlCol="0" anchor="ctr"/>
          <a:lstStyle/>
          <a:p>
            <a:pPr algn="ctr" indent="0" marL="0">
              <a:buNone/>
            </a:pPr>
            <a:r>
              <a:rPr lang="en-US" sz="1800" b="1" dirty="0">
                <a:solidFill>
                  <a:srgbClr val="4285F4"/>
                </a:solidFill>
              </a:rPr>
              <a:t>Gemini + Antigravity</a:t>
            </a:r>
            <a:endParaRPr lang="en-US" sz="1800" dirty="0"/>
          </a:p>
        </p:txBody>
      </p:sp>
      <p:sp>
        <p:nvSpPr>
          <p:cNvPr id="31" name="Text 29"/>
          <p:cNvSpPr/>
          <p:nvPr/>
        </p:nvSpPr>
        <p:spPr>
          <a:xfrm>
            <a:off x="6227064" y="1463040"/>
            <a:ext cx="2468880" cy="274320"/>
          </a:xfrm>
          <a:prstGeom prst="rect">
            <a:avLst/>
          </a:prstGeom>
          <a:noFill/>
          <a:ln/>
        </p:spPr>
        <p:txBody>
          <a:bodyPr wrap="square" rtlCol="0" anchor="ctr"/>
          <a:lstStyle/>
          <a:p>
            <a:pPr algn="ctr" indent="0" marL="0">
              <a:buNone/>
            </a:pPr>
            <a:r>
              <a:rPr lang="en-US" sz="1000" i="1" dirty="0">
                <a:solidFill>
                  <a:srgbClr val="94A3B8"/>
                </a:solidFill>
              </a:rPr>
              <a:t>The Agent-First Cloud Architect</a:t>
            </a:r>
            <a:endParaRPr lang="en-US" sz="1000" dirty="0"/>
          </a:p>
        </p:txBody>
      </p:sp>
      <p:sp>
        <p:nvSpPr>
          <p:cNvPr id="32" name="Shape 30"/>
          <p:cNvSpPr/>
          <p:nvPr/>
        </p:nvSpPr>
        <p:spPr>
          <a:xfrm>
            <a:off x="6364224" y="1810512"/>
            <a:ext cx="2194560" cy="0"/>
          </a:xfrm>
          <a:prstGeom prst="line">
            <a:avLst/>
          </a:prstGeom>
          <a:noFill/>
          <a:ln w="12700">
            <a:solidFill>
              <a:srgbClr val="4285F4">
                <a:alpha val="40000"/>
              </a:srgbClr>
            </a:solidFill>
            <a:prstDash val="solid"/>
          </a:ln>
        </p:spPr>
      </p:sp>
      <p:sp>
        <p:nvSpPr>
          <p:cNvPr id="33" name="Text 31"/>
          <p:cNvSpPr/>
          <p:nvPr/>
        </p:nvSpPr>
        <p:spPr>
          <a:xfrm>
            <a:off x="6227064" y="1901952"/>
            <a:ext cx="2468880" cy="310896"/>
          </a:xfrm>
          <a:prstGeom prst="rect">
            <a:avLst/>
          </a:prstGeom>
          <a:noFill/>
          <a:ln/>
        </p:spPr>
        <p:txBody>
          <a:bodyPr wrap="square" rtlCol="0" anchor="ctr"/>
          <a:lstStyle/>
          <a:p>
            <a:pPr indent="0" marL="0">
              <a:buNone/>
            </a:pPr>
            <a:r>
              <a:rPr lang="en-US" sz="1000" b="1" dirty="0">
                <a:solidFill>
                  <a:srgbClr val="4285F4"/>
                </a:solidFill>
              </a:rPr>
              <a:t>▸  </a:t>
            </a:r>
            <a:pPr indent="0" marL="0">
              <a:buNone/>
            </a:pPr>
            <a:r>
              <a:rPr lang="en-US" sz="1000" dirty="0">
                <a:solidFill>
                  <a:srgbClr val="FFFFFF"/>
                </a:solidFill>
              </a:rPr>
              <a:t>1M+ token context (entire codebase analysis)</a:t>
            </a:r>
            <a:endParaRPr lang="en-US" sz="1000" dirty="0"/>
          </a:p>
        </p:txBody>
      </p:sp>
      <p:sp>
        <p:nvSpPr>
          <p:cNvPr id="34" name="Text 32"/>
          <p:cNvSpPr/>
          <p:nvPr/>
        </p:nvSpPr>
        <p:spPr>
          <a:xfrm>
            <a:off x="6227064" y="2249424"/>
            <a:ext cx="2468880" cy="310896"/>
          </a:xfrm>
          <a:prstGeom prst="rect">
            <a:avLst/>
          </a:prstGeom>
          <a:noFill/>
          <a:ln/>
        </p:spPr>
        <p:txBody>
          <a:bodyPr wrap="square" rtlCol="0" anchor="ctr"/>
          <a:lstStyle/>
          <a:p>
            <a:pPr indent="0" marL="0">
              <a:buNone/>
            </a:pPr>
            <a:r>
              <a:rPr lang="en-US" sz="1000" b="1" dirty="0">
                <a:solidFill>
                  <a:srgbClr val="4285F4"/>
                </a:solidFill>
              </a:rPr>
              <a:t>▸  </a:t>
            </a:r>
            <a:pPr indent="0" marL="0">
              <a:buNone/>
            </a:pPr>
            <a:r>
              <a:rPr lang="en-US" sz="1000" dirty="0">
                <a:solidFill>
                  <a:srgbClr val="FFFFFF"/>
                </a:solidFill>
              </a:rPr>
              <a:t>Antigravity IDE: up to 5 parallel agents</a:t>
            </a:r>
            <a:endParaRPr lang="en-US" sz="1000" dirty="0"/>
          </a:p>
        </p:txBody>
      </p:sp>
      <p:sp>
        <p:nvSpPr>
          <p:cNvPr id="35" name="Text 33"/>
          <p:cNvSpPr/>
          <p:nvPr/>
        </p:nvSpPr>
        <p:spPr>
          <a:xfrm>
            <a:off x="6227064" y="2596896"/>
            <a:ext cx="2468880" cy="310896"/>
          </a:xfrm>
          <a:prstGeom prst="rect">
            <a:avLst/>
          </a:prstGeom>
          <a:noFill/>
          <a:ln/>
        </p:spPr>
        <p:txBody>
          <a:bodyPr wrap="square" rtlCol="0" anchor="ctr"/>
          <a:lstStyle/>
          <a:p>
            <a:pPr indent="0" marL="0">
              <a:buNone/>
            </a:pPr>
            <a:r>
              <a:rPr lang="en-US" sz="1000" b="1" dirty="0">
                <a:solidFill>
                  <a:srgbClr val="4285F4"/>
                </a:solidFill>
              </a:rPr>
              <a:t>▸  </a:t>
            </a:r>
            <a:pPr indent="0" marL="0">
              <a:buNone/>
            </a:pPr>
            <a:r>
              <a:rPr lang="en-US" sz="1000" dirty="0">
                <a:solidFill>
                  <a:srgbClr val="FFFFFF"/>
                </a:solidFill>
              </a:rPr>
              <a:t>Native multimodal: diagrams + code + docs</a:t>
            </a:r>
            <a:endParaRPr lang="en-US" sz="1000" dirty="0"/>
          </a:p>
        </p:txBody>
      </p:sp>
      <p:sp>
        <p:nvSpPr>
          <p:cNvPr id="36" name="Text 34"/>
          <p:cNvSpPr/>
          <p:nvPr/>
        </p:nvSpPr>
        <p:spPr>
          <a:xfrm>
            <a:off x="6227064" y="2944368"/>
            <a:ext cx="2468880" cy="310896"/>
          </a:xfrm>
          <a:prstGeom prst="rect">
            <a:avLst/>
          </a:prstGeom>
          <a:noFill/>
          <a:ln/>
        </p:spPr>
        <p:txBody>
          <a:bodyPr wrap="square" rtlCol="0" anchor="ctr"/>
          <a:lstStyle/>
          <a:p>
            <a:pPr indent="0" marL="0">
              <a:buNone/>
            </a:pPr>
            <a:r>
              <a:rPr lang="en-US" sz="1000" b="1" dirty="0">
                <a:solidFill>
                  <a:srgbClr val="4285F4"/>
                </a:solidFill>
              </a:rPr>
              <a:t>▸  </a:t>
            </a:r>
            <a:pPr indent="0" marL="0">
              <a:buNone/>
            </a:pPr>
            <a:r>
              <a:rPr lang="en-US" sz="1000" dirty="0">
                <a:solidFill>
                  <a:srgbClr val="FFFFFF"/>
                </a:solidFill>
              </a:rPr>
              <a:t>Built-in Chrome browser for visual verification</a:t>
            </a:r>
            <a:endParaRPr lang="en-US" sz="1000" dirty="0"/>
          </a:p>
        </p:txBody>
      </p:sp>
      <p:sp>
        <p:nvSpPr>
          <p:cNvPr id="37" name="Text 35"/>
          <p:cNvSpPr/>
          <p:nvPr/>
        </p:nvSpPr>
        <p:spPr>
          <a:xfrm>
            <a:off x="6227064" y="3291840"/>
            <a:ext cx="2468880" cy="310896"/>
          </a:xfrm>
          <a:prstGeom prst="rect">
            <a:avLst/>
          </a:prstGeom>
          <a:noFill/>
          <a:ln/>
        </p:spPr>
        <p:txBody>
          <a:bodyPr wrap="square" rtlCol="0" anchor="ctr"/>
          <a:lstStyle/>
          <a:p>
            <a:pPr indent="0" marL="0">
              <a:buNone/>
            </a:pPr>
            <a:r>
              <a:rPr lang="en-US" sz="1000" b="1" dirty="0">
                <a:solidFill>
                  <a:srgbClr val="4285F4"/>
                </a:solidFill>
              </a:rPr>
              <a:t>▸  </a:t>
            </a:r>
            <a:pPr indent="0" marL="0">
              <a:buNone/>
            </a:pPr>
            <a:r>
              <a:rPr lang="en-US" sz="1000" dirty="0">
                <a:solidFill>
                  <a:srgbClr val="FFFFFF"/>
                </a:solidFill>
              </a:rPr>
              <a:t>Gemini 3.1 Pro: frontier reasoning + coding</a:t>
            </a:r>
            <a:endParaRPr lang="en-US" sz="1000" dirty="0"/>
          </a:p>
        </p:txBody>
      </p:sp>
      <p:sp>
        <p:nvSpPr>
          <p:cNvPr id="38" name="Shape 36"/>
          <p:cNvSpPr/>
          <p:nvPr/>
        </p:nvSpPr>
        <p:spPr>
          <a:xfrm>
            <a:off x="6181344" y="3977640"/>
            <a:ext cx="2578608" cy="548640"/>
          </a:xfrm>
          <a:prstGeom prst="rect">
            <a:avLst/>
          </a:prstGeom>
          <a:solidFill>
            <a:srgbClr val="4285F4">
              <a:alpha val="25000"/>
            </a:srgbClr>
          </a:solidFill>
          <a:ln w="12700">
            <a:solidFill>
              <a:srgbClr val="4285F4"/>
            </a:solidFill>
            <a:prstDash val="solid"/>
          </a:ln>
        </p:spPr>
      </p:sp>
      <p:sp>
        <p:nvSpPr>
          <p:cNvPr id="39" name="Text 37"/>
          <p:cNvSpPr/>
          <p:nvPr/>
        </p:nvSpPr>
        <p:spPr>
          <a:xfrm>
            <a:off x="6227064" y="3977640"/>
            <a:ext cx="2487168" cy="548640"/>
          </a:xfrm>
          <a:prstGeom prst="rect">
            <a:avLst/>
          </a:prstGeom>
          <a:noFill/>
          <a:ln/>
        </p:spPr>
        <p:txBody>
          <a:bodyPr wrap="square" rtlCol="0" anchor="ctr"/>
          <a:lstStyle/>
          <a:p>
            <a:pPr algn="ctr" indent="0" marL="0">
              <a:buNone/>
            </a:pPr>
            <a:r>
              <a:rPr lang="en-US" sz="850" i="1" dirty="0">
                <a:solidFill>
                  <a:srgbClr val="FFFFFF"/>
                </a:solidFill>
              </a:rPr>
              <a:t>Demo: Upload diagram → component spec + GCP mapping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7B6"/>
          </a:solidFill>
          <a:ln w="12700">
            <a:solidFill>
              <a:srgbClr val="0077B6"/>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200" b="1" dirty="0">
                <a:solidFill>
                  <a:srgbClr val="FFFFFF"/>
                </a:solidFill>
              </a:rPr>
              <a:t>Architectural Use Cases at a Glance (2026)</a:t>
            </a:r>
            <a:endParaRPr lang="en-US" sz="2200" dirty="0"/>
          </a:p>
        </p:txBody>
      </p:sp>
      <p:sp>
        <p:nvSpPr>
          <p:cNvPr id="4" name="Shape 2"/>
          <p:cNvSpPr/>
          <p:nvPr/>
        </p:nvSpPr>
        <p:spPr>
          <a:xfrm>
            <a:off x="137160" y="960120"/>
            <a:ext cx="2194560" cy="384048"/>
          </a:xfrm>
          <a:prstGeom prst="rect">
            <a:avLst/>
          </a:prstGeom>
          <a:solidFill>
            <a:srgbClr val="0F1F3D"/>
          </a:solidFill>
          <a:ln w="12700">
            <a:solidFill>
              <a:srgbClr val="0F1F3D"/>
            </a:solidFill>
            <a:prstDash val="solid"/>
          </a:ln>
        </p:spPr>
      </p:sp>
      <p:sp>
        <p:nvSpPr>
          <p:cNvPr id="5" name="Text 3"/>
          <p:cNvSpPr/>
          <p:nvPr/>
        </p:nvSpPr>
        <p:spPr>
          <a:xfrm>
            <a:off x="137160" y="960120"/>
            <a:ext cx="2194560" cy="384048"/>
          </a:xfrm>
          <a:prstGeom prst="rect">
            <a:avLst/>
          </a:prstGeom>
          <a:noFill/>
          <a:ln/>
        </p:spPr>
        <p:txBody>
          <a:bodyPr wrap="square" lIns="0" tIns="0" rIns="0" bIns="0" rtlCol="0" anchor="ctr"/>
          <a:lstStyle/>
          <a:p>
            <a:pPr algn="ctr" indent="0" marL="0">
              <a:buNone/>
            </a:pPr>
            <a:r>
              <a:rPr lang="en-US" sz="1100" b="1" dirty="0">
                <a:solidFill>
                  <a:srgbClr val="FFFFFF"/>
                </a:solidFill>
              </a:rPr>
              <a:t>Architect Use Case</a:t>
            </a:r>
            <a:endParaRPr lang="en-US" sz="1100" dirty="0"/>
          </a:p>
        </p:txBody>
      </p:sp>
      <p:sp>
        <p:nvSpPr>
          <p:cNvPr id="6" name="Shape 4"/>
          <p:cNvSpPr/>
          <p:nvPr/>
        </p:nvSpPr>
        <p:spPr>
          <a:xfrm>
            <a:off x="2331720" y="960120"/>
            <a:ext cx="2103120" cy="384048"/>
          </a:xfrm>
          <a:prstGeom prst="rect">
            <a:avLst/>
          </a:prstGeom>
          <a:solidFill>
            <a:srgbClr val="D97706"/>
          </a:solidFill>
          <a:ln w="12700">
            <a:solidFill>
              <a:srgbClr val="D97706"/>
            </a:solidFill>
            <a:prstDash val="solid"/>
          </a:ln>
        </p:spPr>
      </p:sp>
      <p:sp>
        <p:nvSpPr>
          <p:cNvPr id="7" name="Text 5"/>
          <p:cNvSpPr/>
          <p:nvPr/>
        </p:nvSpPr>
        <p:spPr>
          <a:xfrm>
            <a:off x="2331720" y="960120"/>
            <a:ext cx="2103120" cy="384048"/>
          </a:xfrm>
          <a:prstGeom prst="rect">
            <a:avLst/>
          </a:prstGeom>
          <a:noFill/>
          <a:ln/>
        </p:spPr>
        <p:txBody>
          <a:bodyPr wrap="square" lIns="0" tIns="0" rIns="0" bIns="0" rtlCol="0" anchor="ctr"/>
          <a:lstStyle/>
          <a:p>
            <a:pPr algn="ctr" indent="0" marL="0">
              <a:buNone/>
            </a:pPr>
            <a:r>
              <a:rPr lang="en-US" sz="1100" b="1" dirty="0">
                <a:solidFill>
                  <a:srgbClr val="FFFFFF"/>
                </a:solidFill>
              </a:rPr>
              <a:t>Claude</a:t>
            </a:r>
            <a:endParaRPr lang="en-US" sz="1100" dirty="0"/>
          </a:p>
        </p:txBody>
      </p:sp>
      <p:sp>
        <p:nvSpPr>
          <p:cNvPr id="8" name="Shape 6"/>
          <p:cNvSpPr/>
          <p:nvPr/>
        </p:nvSpPr>
        <p:spPr>
          <a:xfrm>
            <a:off x="4434840" y="960120"/>
            <a:ext cx="2103120" cy="384048"/>
          </a:xfrm>
          <a:prstGeom prst="rect">
            <a:avLst/>
          </a:prstGeom>
          <a:solidFill>
            <a:srgbClr val="1F883D"/>
          </a:solidFill>
          <a:ln w="12700">
            <a:solidFill>
              <a:srgbClr val="1F883D"/>
            </a:solidFill>
            <a:prstDash val="solid"/>
          </a:ln>
        </p:spPr>
      </p:sp>
      <p:sp>
        <p:nvSpPr>
          <p:cNvPr id="9" name="Text 7"/>
          <p:cNvSpPr/>
          <p:nvPr/>
        </p:nvSpPr>
        <p:spPr>
          <a:xfrm>
            <a:off x="4434840" y="960120"/>
            <a:ext cx="2103120" cy="384048"/>
          </a:xfrm>
          <a:prstGeom prst="rect">
            <a:avLst/>
          </a:prstGeom>
          <a:noFill/>
          <a:ln/>
        </p:spPr>
        <p:txBody>
          <a:bodyPr wrap="square" lIns="0" tIns="0" rIns="0" bIns="0" rtlCol="0" anchor="ctr"/>
          <a:lstStyle/>
          <a:p>
            <a:pPr algn="ctr" indent="0" marL="0">
              <a:buNone/>
            </a:pPr>
            <a:r>
              <a:rPr lang="en-US" sz="1100" b="1" dirty="0">
                <a:solidFill>
                  <a:srgbClr val="FFFFFF"/>
                </a:solidFill>
              </a:rPr>
              <a:t>Copilot</a:t>
            </a:r>
            <a:endParaRPr lang="en-US" sz="1100" dirty="0"/>
          </a:p>
        </p:txBody>
      </p:sp>
      <p:sp>
        <p:nvSpPr>
          <p:cNvPr id="10" name="Shape 8"/>
          <p:cNvSpPr/>
          <p:nvPr/>
        </p:nvSpPr>
        <p:spPr>
          <a:xfrm>
            <a:off x="6537960" y="960120"/>
            <a:ext cx="2103120" cy="384048"/>
          </a:xfrm>
          <a:prstGeom prst="rect">
            <a:avLst/>
          </a:prstGeom>
          <a:solidFill>
            <a:srgbClr val="4285F4"/>
          </a:solidFill>
          <a:ln w="12700">
            <a:solidFill>
              <a:srgbClr val="4285F4"/>
            </a:solidFill>
            <a:prstDash val="solid"/>
          </a:ln>
        </p:spPr>
      </p:sp>
      <p:sp>
        <p:nvSpPr>
          <p:cNvPr id="11" name="Text 9"/>
          <p:cNvSpPr/>
          <p:nvPr/>
        </p:nvSpPr>
        <p:spPr>
          <a:xfrm>
            <a:off x="6537960" y="960120"/>
            <a:ext cx="2103120" cy="384048"/>
          </a:xfrm>
          <a:prstGeom prst="rect">
            <a:avLst/>
          </a:prstGeom>
          <a:noFill/>
          <a:ln/>
        </p:spPr>
        <p:txBody>
          <a:bodyPr wrap="square" lIns="0" tIns="0" rIns="0" bIns="0" rtlCol="0" anchor="ctr"/>
          <a:lstStyle/>
          <a:p>
            <a:pPr algn="ctr" indent="0" marL="0">
              <a:buNone/>
            </a:pPr>
            <a:r>
              <a:rPr lang="en-US" sz="1100" b="1" dirty="0">
                <a:solidFill>
                  <a:srgbClr val="FFFFFF"/>
                </a:solidFill>
              </a:rPr>
              <a:t>Gemini + Antigravity</a:t>
            </a:r>
            <a:endParaRPr lang="en-US" sz="1100" dirty="0"/>
          </a:p>
        </p:txBody>
      </p:sp>
      <p:sp>
        <p:nvSpPr>
          <p:cNvPr id="12" name="Shape 10"/>
          <p:cNvSpPr/>
          <p:nvPr/>
        </p:nvSpPr>
        <p:spPr>
          <a:xfrm>
            <a:off x="137160" y="1417320"/>
            <a:ext cx="2194560" cy="475488"/>
          </a:xfrm>
          <a:prstGeom prst="rect">
            <a:avLst/>
          </a:prstGeom>
          <a:solidFill>
            <a:srgbClr val="FFFFFF"/>
          </a:solidFill>
          <a:ln w="12700">
            <a:solidFill>
              <a:srgbClr val="CBD5E1"/>
            </a:solidFill>
            <a:prstDash val="solid"/>
          </a:ln>
        </p:spPr>
      </p:sp>
      <p:sp>
        <p:nvSpPr>
          <p:cNvPr id="13" name="Text 11"/>
          <p:cNvSpPr/>
          <p:nvPr/>
        </p:nvSpPr>
        <p:spPr>
          <a:xfrm>
            <a:off x="210312" y="1417320"/>
            <a:ext cx="2048256" cy="475488"/>
          </a:xfrm>
          <a:prstGeom prst="rect">
            <a:avLst/>
          </a:prstGeom>
          <a:noFill/>
          <a:ln/>
        </p:spPr>
        <p:txBody>
          <a:bodyPr wrap="square" rtlCol="0" anchor="ctr"/>
          <a:lstStyle/>
          <a:p>
            <a:pPr indent="0" marL="0">
              <a:buNone/>
            </a:pPr>
            <a:r>
              <a:rPr lang="en-US" sz="1100" b="1" dirty="0">
                <a:solidFill>
                  <a:srgbClr val="0F1F3D"/>
                </a:solidFill>
              </a:rPr>
              <a:t>Reverse-engineer architecture</a:t>
            </a:r>
            <a:endParaRPr lang="en-US" sz="1100" dirty="0"/>
          </a:p>
        </p:txBody>
      </p:sp>
      <p:sp>
        <p:nvSpPr>
          <p:cNvPr id="14" name="Shape 12"/>
          <p:cNvSpPr/>
          <p:nvPr/>
        </p:nvSpPr>
        <p:spPr>
          <a:xfrm>
            <a:off x="2331720" y="1417320"/>
            <a:ext cx="2103120" cy="475488"/>
          </a:xfrm>
          <a:prstGeom prst="rect">
            <a:avLst/>
          </a:prstGeom>
          <a:solidFill>
            <a:srgbClr val="FFFFFF"/>
          </a:solidFill>
          <a:ln w="12700">
            <a:solidFill>
              <a:srgbClr val="CBD5E1"/>
            </a:solidFill>
            <a:prstDash val="solid"/>
          </a:ln>
        </p:spPr>
      </p:sp>
      <p:sp>
        <p:nvSpPr>
          <p:cNvPr id="15" name="Text 13"/>
          <p:cNvSpPr/>
          <p:nvPr/>
        </p:nvSpPr>
        <p:spPr>
          <a:xfrm>
            <a:off x="2404872" y="1417320"/>
            <a:ext cx="1956816" cy="475488"/>
          </a:xfrm>
          <a:prstGeom prst="rect">
            <a:avLst/>
          </a:prstGeom>
          <a:noFill/>
          <a:ln/>
        </p:spPr>
        <p:txBody>
          <a:bodyPr wrap="square" rtlCol="0" anchor="ctr"/>
          <a:lstStyle/>
          <a:p>
            <a:pPr indent="0" marL="0">
              <a:buNone/>
            </a:pPr>
            <a:r>
              <a:rPr lang="en-US" sz="950" dirty="0">
                <a:solidFill>
                  <a:srgbClr val="D97706"/>
                </a:solidFill>
              </a:rPr>
              <a:t>★★★ Deep reasoning + diagrams</a:t>
            </a:r>
            <a:endParaRPr lang="en-US" sz="950" dirty="0"/>
          </a:p>
        </p:txBody>
      </p:sp>
      <p:sp>
        <p:nvSpPr>
          <p:cNvPr id="16" name="Shape 14"/>
          <p:cNvSpPr/>
          <p:nvPr/>
        </p:nvSpPr>
        <p:spPr>
          <a:xfrm>
            <a:off x="4434840" y="1417320"/>
            <a:ext cx="2103120" cy="475488"/>
          </a:xfrm>
          <a:prstGeom prst="rect">
            <a:avLst/>
          </a:prstGeom>
          <a:solidFill>
            <a:srgbClr val="FFFFFF"/>
          </a:solidFill>
          <a:ln w="12700">
            <a:solidFill>
              <a:srgbClr val="CBD5E1"/>
            </a:solidFill>
            <a:prstDash val="solid"/>
          </a:ln>
        </p:spPr>
      </p:sp>
      <p:sp>
        <p:nvSpPr>
          <p:cNvPr id="17" name="Text 15"/>
          <p:cNvSpPr/>
          <p:nvPr/>
        </p:nvSpPr>
        <p:spPr>
          <a:xfrm>
            <a:off x="4507992" y="1417320"/>
            <a:ext cx="1956816" cy="475488"/>
          </a:xfrm>
          <a:prstGeom prst="rect">
            <a:avLst/>
          </a:prstGeom>
          <a:noFill/>
          <a:ln/>
        </p:spPr>
        <p:txBody>
          <a:bodyPr wrap="square" rtlCol="0" anchor="ctr"/>
          <a:lstStyle/>
          <a:p>
            <a:pPr indent="0" marL="0">
              <a:buNone/>
            </a:pPr>
            <a:r>
              <a:rPr lang="en-US" sz="950" dirty="0">
                <a:solidFill>
                  <a:srgbClr val="475569"/>
                </a:solidFill>
              </a:rPr>
              <a:t>★★ Agent explores repo</a:t>
            </a:r>
            <a:endParaRPr lang="en-US" sz="950" dirty="0"/>
          </a:p>
        </p:txBody>
      </p:sp>
      <p:sp>
        <p:nvSpPr>
          <p:cNvPr id="18" name="Shape 16"/>
          <p:cNvSpPr/>
          <p:nvPr/>
        </p:nvSpPr>
        <p:spPr>
          <a:xfrm>
            <a:off x="6537960" y="1417320"/>
            <a:ext cx="2103120" cy="475488"/>
          </a:xfrm>
          <a:prstGeom prst="rect">
            <a:avLst/>
          </a:prstGeom>
          <a:solidFill>
            <a:srgbClr val="FFFFFF"/>
          </a:solidFill>
          <a:ln w="12700">
            <a:solidFill>
              <a:srgbClr val="CBD5E1"/>
            </a:solidFill>
            <a:prstDash val="solid"/>
          </a:ln>
        </p:spPr>
      </p:sp>
      <p:sp>
        <p:nvSpPr>
          <p:cNvPr id="19" name="Text 17"/>
          <p:cNvSpPr/>
          <p:nvPr/>
        </p:nvSpPr>
        <p:spPr>
          <a:xfrm>
            <a:off x="6611112" y="1417320"/>
            <a:ext cx="1956816" cy="475488"/>
          </a:xfrm>
          <a:prstGeom prst="rect">
            <a:avLst/>
          </a:prstGeom>
          <a:noFill/>
          <a:ln/>
        </p:spPr>
        <p:txBody>
          <a:bodyPr wrap="square" rtlCol="0" anchor="ctr"/>
          <a:lstStyle/>
          <a:p>
            <a:pPr indent="0" marL="0">
              <a:buNone/>
            </a:pPr>
            <a:r>
              <a:rPr lang="en-US" sz="950" dirty="0">
                <a:solidFill>
                  <a:srgbClr val="4285F4"/>
                </a:solidFill>
              </a:rPr>
              <a:t>★★★ 1M context + multimodal</a:t>
            </a:r>
            <a:endParaRPr lang="en-US" sz="950" dirty="0"/>
          </a:p>
        </p:txBody>
      </p:sp>
      <p:sp>
        <p:nvSpPr>
          <p:cNvPr id="20" name="Shape 18"/>
          <p:cNvSpPr/>
          <p:nvPr/>
        </p:nvSpPr>
        <p:spPr>
          <a:xfrm>
            <a:off x="137160" y="1947672"/>
            <a:ext cx="2194560" cy="475488"/>
          </a:xfrm>
          <a:prstGeom prst="rect">
            <a:avLst/>
          </a:prstGeom>
          <a:solidFill>
            <a:srgbClr val="EBF4F7"/>
          </a:solidFill>
          <a:ln w="12700">
            <a:solidFill>
              <a:srgbClr val="CBD5E1"/>
            </a:solidFill>
            <a:prstDash val="solid"/>
          </a:ln>
        </p:spPr>
      </p:sp>
      <p:sp>
        <p:nvSpPr>
          <p:cNvPr id="21" name="Text 19"/>
          <p:cNvSpPr/>
          <p:nvPr/>
        </p:nvSpPr>
        <p:spPr>
          <a:xfrm>
            <a:off x="210312" y="1947672"/>
            <a:ext cx="2048256" cy="475488"/>
          </a:xfrm>
          <a:prstGeom prst="rect">
            <a:avLst/>
          </a:prstGeom>
          <a:noFill/>
          <a:ln/>
        </p:spPr>
        <p:txBody>
          <a:bodyPr wrap="square" rtlCol="0" anchor="ctr"/>
          <a:lstStyle/>
          <a:p>
            <a:pPr indent="0" marL="0">
              <a:buNone/>
            </a:pPr>
            <a:r>
              <a:rPr lang="en-US" sz="1100" b="1" dirty="0">
                <a:solidFill>
                  <a:srgbClr val="0F1F3D"/>
                </a:solidFill>
              </a:rPr>
              <a:t>Generate TOGAF artefacts</a:t>
            </a:r>
            <a:endParaRPr lang="en-US" sz="1100" dirty="0"/>
          </a:p>
        </p:txBody>
      </p:sp>
      <p:sp>
        <p:nvSpPr>
          <p:cNvPr id="22" name="Shape 20"/>
          <p:cNvSpPr/>
          <p:nvPr/>
        </p:nvSpPr>
        <p:spPr>
          <a:xfrm>
            <a:off x="2331720" y="1947672"/>
            <a:ext cx="2103120" cy="475488"/>
          </a:xfrm>
          <a:prstGeom prst="rect">
            <a:avLst/>
          </a:prstGeom>
          <a:solidFill>
            <a:srgbClr val="EBF4F7"/>
          </a:solidFill>
          <a:ln w="12700">
            <a:solidFill>
              <a:srgbClr val="CBD5E1"/>
            </a:solidFill>
            <a:prstDash val="solid"/>
          </a:ln>
        </p:spPr>
      </p:sp>
      <p:sp>
        <p:nvSpPr>
          <p:cNvPr id="23" name="Text 21"/>
          <p:cNvSpPr/>
          <p:nvPr/>
        </p:nvSpPr>
        <p:spPr>
          <a:xfrm>
            <a:off x="2404872" y="1947672"/>
            <a:ext cx="1956816" cy="475488"/>
          </a:xfrm>
          <a:prstGeom prst="rect">
            <a:avLst/>
          </a:prstGeom>
          <a:noFill/>
          <a:ln/>
        </p:spPr>
        <p:txBody>
          <a:bodyPr wrap="square" rtlCol="0" anchor="ctr"/>
          <a:lstStyle/>
          <a:p>
            <a:pPr indent="0" marL="0">
              <a:buNone/>
            </a:pPr>
            <a:r>
              <a:rPr lang="en-US" sz="950" dirty="0">
                <a:solidFill>
                  <a:srgbClr val="D97706"/>
                </a:solidFill>
              </a:rPr>
              <a:t>★★★ ADRs, BDAT layers, ArchiMate</a:t>
            </a:r>
            <a:endParaRPr lang="en-US" sz="950" dirty="0"/>
          </a:p>
        </p:txBody>
      </p:sp>
      <p:sp>
        <p:nvSpPr>
          <p:cNvPr id="24" name="Shape 22"/>
          <p:cNvSpPr/>
          <p:nvPr/>
        </p:nvSpPr>
        <p:spPr>
          <a:xfrm>
            <a:off x="4434840" y="1947672"/>
            <a:ext cx="2103120" cy="475488"/>
          </a:xfrm>
          <a:prstGeom prst="rect">
            <a:avLst/>
          </a:prstGeom>
          <a:solidFill>
            <a:srgbClr val="EBF4F7"/>
          </a:solidFill>
          <a:ln w="12700">
            <a:solidFill>
              <a:srgbClr val="CBD5E1"/>
            </a:solidFill>
            <a:prstDash val="solid"/>
          </a:ln>
        </p:spPr>
      </p:sp>
      <p:sp>
        <p:nvSpPr>
          <p:cNvPr id="25" name="Text 23"/>
          <p:cNvSpPr/>
          <p:nvPr/>
        </p:nvSpPr>
        <p:spPr>
          <a:xfrm>
            <a:off x="4507992" y="1947672"/>
            <a:ext cx="1956816" cy="475488"/>
          </a:xfrm>
          <a:prstGeom prst="rect">
            <a:avLst/>
          </a:prstGeom>
          <a:noFill/>
          <a:ln/>
        </p:spPr>
        <p:txBody>
          <a:bodyPr wrap="square" rtlCol="0" anchor="ctr"/>
          <a:lstStyle/>
          <a:p>
            <a:pPr indent="0" marL="0">
              <a:buNone/>
            </a:pPr>
            <a:r>
              <a:rPr lang="en-US" sz="950" dirty="0">
                <a:solidFill>
                  <a:srgbClr val="475569"/>
                </a:solidFill>
              </a:rPr>
              <a:t>★★ Via agent + custom prompts</a:t>
            </a:r>
            <a:endParaRPr lang="en-US" sz="950" dirty="0"/>
          </a:p>
        </p:txBody>
      </p:sp>
      <p:sp>
        <p:nvSpPr>
          <p:cNvPr id="26" name="Shape 24"/>
          <p:cNvSpPr/>
          <p:nvPr/>
        </p:nvSpPr>
        <p:spPr>
          <a:xfrm>
            <a:off x="6537960" y="1947672"/>
            <a:ext cx="2103120" cy="475488"/>
          </a:xfrm>
          <a:prstGeom prst="rect">
            <a:avLst/>
          </a:prstGeom>
          <a:solidFill>
            <a:srgbClr val="EBF4F7"/>
          </a:solidFill>
          <a:ln w="12700">
            <a:solidFill>
              <a:srgbClr val="CBD5E1"/>
            </a:solidFill>
            <a:prstDash val="solid"/>
          </a:ln>
        </p:spPr>
      </p:sp>
      <p:sp>
        <p:nvSpPr>
          <p:cNvPr id="27" name="Text 25"/>
          <p:cNvSpPr/>
          <p:nvPr/>
        </p:nvSpPr>
        <p:spPr>
          <a:xfrm>
            <a:off x="6611112" y="1947672"/>
            <a:ext cx="1956816" cy="475488"/>
          </a:xfrm>
          <a:prstGeom prst="rect">
            <a:avLst/>
          </a:prstGeom>
          <a:noFill/>
          <a:ln/>
        </p:spPr>
        <p:txBody>
          <a:bodyPr wrap="square" rtlCol="0" anchor="ctr"/>
          <a:lstStyle/>
          <a:p>
            <a:pPr indent="0" marL="0">
              <a:buNone/>
            </a:pPr>
            <a:r>
              <a:rPr lang="en-US" sz="950" dirty="0">
                <a:solidFill>
                  <a:srgbClr val="475569"/>
                </a:solidFill>
              </a:rPr>
              <a:t>★★ Doc generation + search</a:t>
            </a:r>
            <a:endParaRPr lang="en-US" sz="950" dirty="0"/>
          </a:p>
        </p:txBody>
      </p:sp>
      <p:sp>
        <p:nvSpPr>
          <p:cNvPr id="28" name="Shape 26"/>
          <p:cNvSpPr/>
          <p:nvPr/>
        </p:nvSpPr>
        <p:spPr>
          <a:xfrm>
            <a:off x="137160" y="2478024"/>
            <a:ext cx="2194560" cy="475488"/>
          </a:xfrm>
          <a:prstGeom prst="rect">
            <a:avLst/>
          </a:prstGeom>
          <a:solidFill>
            <a:srgbClr val="FFFFFF"/>
          </a:solidFill>
          <a:ln w="12700">
            <a:solidFill>
              <a:srgbClr val="CBD5E1"/>
            </a:solidFill>
            <a:prstDash val="solid"/>
          </a:ln>
        </p:spPr>
      </p:sp>
      <p:sp>
        <p:nvSpPr>
          <p:cNvPr id="29" name="Text 27"/>
          <p:cNvSpPr/>
          <p:nvPr/>
        </p:nvSpPr>
        <p:spPr>
          <a:xfrm>
            <a:off x="210312" y="2478024"/>
            <a:ext cx="2048256" cy="475488"/>
          </a:xfrm>
          <a:prstGeom prst="rect">
            <a:avLst/>
          </a:prstGeom>
          <a:noFill/>
          <a:ln/>
        </p:spPr>
        <p:txBody>
          <a:bodyPr wrap="square" rtlCol="0" anchor="ctr"/>
          <a:lstStyle/>
          <a:p>
            <a:pPr indent="0" marL="0">
              <a:buNone/>
            </a:pPr>
            <a:r>
              <a:rPr lang="en-US" sz="1100" b="1" dirty="0">
                <a:solidFill>
                  <a:srgbClr val="0F1F3D"/>
                </a:solidFill>
              </a:rPr>
              <a:t>IaC scaffolding &amp; review</a:t>
            </a:r>
            <a:endParaRPr lang="en-US" sz="1100" dirty="0"/>
          </a:p>
        </p:txBody>
      </p:sp>
      <p:sp>
        <p:nvSpPr>
          <p:cNvPr id="30" name="Shape 28"/>
          <p:cNvSpPr/>
          <p:nvPr/>
        </p:nvSpPr>
        <p:spPr>
          <a:xfrm>
            <a:off x="2331720" y="2478024"/>
            <a:ext cx="2103120" cy="475488"/>
          </a:xfrm>
          <a:prstGeom prst="rect">
            <a:avLst/>
          </a:prstGeom>
          <a:solidFill>
            <a:srgbClr val="FFFFFF"/>
          </a:solidFill>
          <a:ln w="12700">
            <a:solidFill>
              <a:srgbClr val="CBD5E1"/>
            </a:solidFill>
            <a:prstDash val="solid"/>
          </a:ln>
        </p:spPr>
      </p:sp>
      <p:sp>
        <p:nvSpPr>
          <p:cNvPr id="31" name="Text 29"/>
          <p:cNvSpPr/>
          <p:nvPr/>
        </p:nvSpPr>
        <p:spPr>
          <a:xfrm>
            <a:off x="2404872" y="2478024"/>
            <a:ext cx="1956816" cy="475488"/>
          </a:xfrm>
          <a:prstGeom prst="rect">
            <a:avLst/>
          </a:prstGeom>
          <a:noFill/>
          <a:ln/>
        </p:spPr>
        <p:txBody>
          <a:bodyPr wrap="square" rtlCol="0" anchor="ctr"/>
          <a:lstStyle/>
          <a:p>
            <a:pPr indent="0" marL="0">
              <a:buNone/>
            </a:pPr>
            <a:r>
              <a:rPr lang="en-US" sz="950" dirty="0">
                <a:solidFill>
                  <a:srgbClr val="475569"/>
                </a:solidFill>
              </a:rPr>
              <a:t>★★ Claude Code in terminal</a:t>
            </a:r>
            <a:endParaRPr lang="en-US" sz="950" dirty="0"/>
          </a:p>
        </p:txBody>
      </p:sp>
      <p:sp>
        <p:nvSpPr>
          <p:cNvPr id="32" name="Shape 30"/>
          <p:cNvSpPr/>
          <p:nvPr/>
        </p:nvSpPr>
        <p:spPr>
          <a:xfrm>
            <a:off x="4434840" y="2478024"/>
            <a:ext cx="2103120" cy="475488"/>
          </a:xfrm>
          <a:prstGeom prst="rect">
            <a:avLst/>
          </a:prstGeom>
          <a:solidFill>
            <a:srgbClr val="FFFFFF"/>
          </a:solidFill>
          <a:ln w="12700">
            <a:solidFill>
              <a:srgbClr val="CBD5E1"/>
            </a:solidFill>
            <a:prstDash val="solid"/>
          </a:ln>
        </p:spPr>
      </p:sp>
      <p:sp>
        <p:nvSpPr>
          <p:cNvPr id="33" name="Text 31"/>
          <p:cNvSpPr/>
          <p:nvPr/>
        </p:nvSpPr>
        <p:spPr>
          <a:xfrm>
            <a:off x="4507992" y="2478024"/>
            <a:ext cx="1956816" cy="475488"/>
          </a:xfrm>
          <a:prstGeom prst="rect">
            <a:avLst/>
          </a:prstGeom>
          <a:noFill/>
          <a:ln/>
        </p:spPr>
        <p:txBody>
          <a:bodyPr wrap="square" rtlCol="0" anchor="ctr"/>
          <a:lstStyle/>
          <a:p>
            <a:pPr indent="0" marL="0">
              <a:buNone/>
            </a:pPr>
            <a:r>
              <a:rPr lang="en-US" sz="950" dirty="0">
                <a:solidFill>
                  <a:srgbClr val="1F883D"/>
                </a:solidFill>
              </a:rPr>
              <a:t>★★★ Native IDE + agent mode</a:t>
            </a:r>
            <a:endParaRPr lang="en-US" sz="950" dirty="0"/>
          </a:p>
        </p:txBody>
      </p:sp>
      <p:sp>
        <p:nvSpPr>
          <p:cNvPr id="34" name="Shape 32"/>
          <p:cNvSpPr/>
          <p:nvPr/>
        </p:nvSpPr>
        <p:spPr>
          <a:xfrm>
            <a:off x="6537960" y="2478024"/>
            <a:ext cx="2103120" cy="475488"/>
          </a:xfrm>
          <a:prstGeom prst="rect">
            <a:avLst/>
          </a:prstGeom>
          <a:solidFill>
            <a:srgbClr val="FFFFFF"/>
          </a:solidFill>
          <a:ln w="12700">
            <a:solidFill>
              <a:srgbClr val="CBD5E1"/>
            </a:solidFill>
            <a:prstDash val="solid"/>
          </a:ln>
        </p:spPr>
      </p:sp>
      <p:sp>
        <p:nvSpPr>
          <p:cNvPr id="35" name="Text 33"/>
          <p:cNvSpPr/>
          <p:nvPr/>
        </p:nvSpPr>
        <p:spPr>
          <a:xfrm>
            <a:off x="6611112" y="2478024"/>
            <a:ext cx="1956816" cy="475488"/>
          </a:xfrm>
          <a:prstGeom prst="rect">
            <a:avLst/>
          </a:prstGeom>
          <a:noFill/>
          <a:ln/>
        </p:spPr>
        <p:txBody>
          <a:bodyPr wrap="square" rtlCol="0" anchor="ctr"/>
          <a:lstStyle/>
          <a:p>
            <a:pPr indent="0" marL="0">
              <a:buNone/>
            </a:pPr>
            <a:r>
              <a:rPr lang="en-US" sz="950" dirty="0">
                <a:solidFill>
                  <a:srgbClr val="4285F4"/>
                </a:solidFill>
              </a:rPr>
              <a:t>★★★ GCP-native + agent mode</a:t>
            </a:r>
            <a:endParaRPr lang="en-US" sz="950" dirty="0"/>
          </a:p>
        </p:txBody>
      </p:sp>
      <p:sp>
        <p:nvSpPr>
          <p:cNvPr id="36" name="Shape 34"/>
          <p:cNvSpPr/>
          <p:nvPr/>
        </p:nvSpPr>
        <p:spPr>
          <a:xfrm>
            <a:off x="137160" y="3008376"/>
            <a:ext cx="2194560" cy="475488"/>
          </a:xfrm>
          <a:prstGeom prst="rect">
            <a:avLst/>
          </a:prstGeom>
          <a:solidFill>
            <a:srgbClr val="EBF4F7"/>
          </a:solidFill>
          <a:ln w="12700">
            <a:solidFill>
              <a:srgbClr val="CBD5E1"/>
            </a:solidFill>
            <a:prstDash val="solid"/>
          </a:ln>
        </p:spPr>
      </p:sp>
      <p:sp>
        <p:nvSpPr>
          <p:cNvPr id="37" name="Text 35"/>
          <p:cNvSpPr/>
          <p:nvPr/>
        </p:nvSpPr>
        <p:spPr>
          <a:xfrm>
            <a:off x="210312" y="3008376"/>
            <a:ext cx="2048256" cy="475488"/>
          </a:xfrm>
          <a:prstGeom prst="rect">
            <a:avLst/>
          </a:prstGeom>
          <a:noFill/>
          <a:ln/>
        </p:spPr>
        <p:txBody>
          <a:bodyPr wrap="square" rtlCol="0" anchor="ctr"/>
          <a:lstStyle/>
          <a:p>
            <a:pPr indent="0" marL="0">
              <a:buNone/>
            </a:pPr>
            <a:r>
              <a:rPr lang="en-US" sz="1100" b="1" dirty="0">
                <a:solidFill>
                  <a:srgbClr val="0F1F3D"/>
                </a:solidFill>
              </a:rPr>
              <a:t>Security &amp; threat modelling</a:t>
            </a:r>
            <a:endParaRPr lang="en-US" sz="1100" dirty="0"/>
          </a:p>
        </p:txBody>
      </p:sp>
      <p:sp>
        <p:nvSpPr>
          <p:cNvPr id="38" name="Shape 36"/>
          <p:cNvSpPr/>
          <p:nvPr/>
        </p:nvSpPr>
        <p:spPr>
          <a:xfrm>
            <a:off x="2331720" y="3008376"/>
            <a:ext cx="2103120" cy="475488"/>
          </a:xfrm>
          <a:prstGeom prst="rect">
            <a:avLst/>
          </a:prstGeom>
          <a:solidFill>
            <a:srgbClr val="EBF4F7"/>
          </a:solidFill>
          <a:ln w="12700">
            <a:solidFill>
              <a:srgbClr val="CBD5E1"/>
            </a:solidFill>
            <a:prstDash val="solid"/>
          </a:ln>
        </p:spPr>
      </p:sp>
      <p:sp>
        <p:nvSpPr>
          <p:cNvPr id="39" name="Text 37"/>
          <p:cNvSpPr/>
          <p:nvPr/>
        </p:nvSpPr>
        <p:spPr>
          <a:xfrm>
            <a:off x="2404872" y="3008376"/>
            <a:ext cx="1956816" cy="475488"/>
          </a:xfrm>
          <a:prstGeom prst="rect">
            <a:avLst/>
          </a:prstGeom>
          <a:noFill/>
          <a:ln/>
        </p:spPr>
        <p:txBody>
          <a:bodyPr wrap="square" rtlCol="0" anchor="ctr"/>
          <a:lstStyle/>
          <a:p>
            <a:pPr indent="0" marL="0">
              <a:buNone/>
            </a:pPr>
            <a:r>
              <a:rPr lang="en-US" sz="950" dirty="0">
                <a:solidFill>
                  <a:srgbClr val="D97706"/>
                </a:solidFill>
              </a:rPr>
              <a:t>★★★ STRIDE threat models</a:t>
            </a:r>
            <a:endParaRPr lang="en-US" sz="950" dirty="0"/>
          </a:p>
        </p:txBody>
      </p:sp>
      <p:sp>
        <p:nvSpPr>
          <p:cNvPr id="40" name="Shape 38"/>
          <p:cNvSpPr/>
          <p:nvPr/>
        </p:nvSpPr>
        <p:spPr>
          <a:xfrm>
            <a:off x="4434840" y="3008376"/>
            <a:ext cx="2103120" cy="475488"/>
          </a:xfrm>
          <a:prstGeom prst="rect">
            <a:avLst/>
          </a:prstGeom>
          <a:solidFill>
            <a:srgbClr val="EBF4F7"/>
          </a:solidFill>
          <a:ln w="12700">
            <a:solidFill>
              <a:srgbClr val="CBD5E1"/>
            </a:solidFill>
            <a:prstDash val="solid"/>
          </a:ln>
        </p:spPr>
      </p:sp>
      <p:sp>
        <p:nvSpPr>
          <p:cNvPr id="41" name="Text 39"/>
          <p:cNvSpPr/>
          <p:nvPr/>
        </p:nvSpPr>
        <p:spPr>
          <a:xfrm>
            <a:off x="4507992" y="3008376"/>
            <a:ext cx="1956816" cy="475488"/>
          </a:xfrm>
          <a:prstGeom prst="rect">
            <a:avLst/>
          </a:prstGeom>
          <a:noFill/>
          <a:ln/>
        </p:spPr>
        <p:txBody>
          <a:bodyPr wrap="square" rtlCol="0" anchor="ctr"/>
          <a:lstStyle/>
          <a:p>
            <a:pPr indent="0" marL="0">
              <a:buNone/>
            </a:pPr>
            <a:r>
              <a:rPr lang="en-US" sz="950" dirty="0">
                <a:solidFill>
                  <a:srgbClr val="1F883D"/>
                </a:solidFill>
              </a:rPr>
              <a:t>★★★ Auto scan: code+secrets+deps</a:t>
            </a:r>
            <a:endParaRPr lang="en-US" sz="950" dirty="0"/>
          </a:p>
        </p:txBody>
      </p:sp>
      <p:sp>
        <p:nvSpPr>
          <p:cNvPr id="42" name="Shape 40"/>
          <p:cNvSpPr/>
          <p:nvPr/>
        </p:nvSpPr>
        <p:spPr>
          <a:xfrm>
            <a:off x="6537960" y="3008376"/>
            <a:ext cx="2103120" cy="475488"/>
          </a:xfrm>
          <a:prstGeom prst="rect">
            <a:avLst/>
          </a:prstGeom>
          <a:solidFill>
            <a:srgbClr val="EBF4F7"/>
          </a:solidFill>
          <a:ln w="12700">
            <a:solidFill>
              <a:srgbClr val="CBD5E1"/>
            </a:solidFill>
            <a:prstDash val="solid"/>
          </a:ln>
        </p:spPr>
      </p:sp>
      <p:sp>
        <p:nvSpPr>
          <p:cNvPr id="43" name="Text 41"/>
          <p:cNvSpPr/>
          <p:nvPr/>
        </p:nvSpPr>
        <p:spPr>
          <a:xfrm>
            <a:off x="6611112" y="3008376"/>
            <a:ext cx="1956816" cy="475488"/>
          </a:xfrm>
          <a:prstGeom prst="rect">
            <a:avLst/>
          </a:prstGeom>
          <a:noFill/>
          <a:ln/>
        </p:spPr>
        <p:txBody>
          <a:bodyPr wrap="square" rtlCol="0" anchor="ctr"/>
          <a:lstStyle/>
          <a:p>
            <a:pPr indent="0" marL="0">
              <a:buNone/>
            </a:pPr>
            <a:r>
              <a:rPr lang="en-US" sz="950" dirty="0">
                <a:solidFill>
                  <a:srgbClr val="475569"/>
                </a:solidFill>
              </a:rPr>
              <a:t>★★ PR review + policy checks</a:t>
            </a:r>
            <a:endParaRPr lang="en-US" sz="950" dirty="0"/>
          </a:p>
        </p:txBody>
      </p:sp>
      <p:sp>
        <p:nvSpPr>
          <p:cNvPr id="44" name="Shape 42"/>
          <p:cNvSpPr/>
          <p:nvPr/>
        </p:nvSpPr>
        <p:spPr>
          <a:xfrm>
            <a:off x="137160" y="3538728"/>
            <a:ext cx="2194560" cy="475488"/>
          </a:xfrm>
          <a:prstGeom prst="rect">
            <a:avLst/>
          </a:prstGeom>
          <a:solidFill>
            <a:srgbClr val="FFFFFF"/>
          </a:solidFill>
          <a:ln w="12700">
            <a:solidFill>
              <a:srgbClr val="CBD5E1"/>
            </a:solidFill>
            <a:prstDash val="solid"/>
          </a:ln>
        </p:spPr>
      </p:sp>
      <p:sp>
        <p:nvSpPr>
          <p:cNvPr id="45" name="Text 43"/>
          <p:cNvSpPr/>
          <p:nvPr/>
        </p:nvSpPr>
        <p:spPr>
          <a:xfrm>
            <a:off x="210312" y="3538728"/>
            <a:ext cx="2048256" cy="475488"/>
          </a:xfrm>
          <a:prstGeom prst="rect">
            <a:avLst/>
          </a:prstGeom>
          <a:noFill/>
          <a:ln/>
        </p:spPr>
        <p:txBody>
          <a:bodyPr wrap="square" rtlCol="0" anchor="ctr"/>
          <a:lstStyle/>
          <a:p>
            <a:pPr indent="0" marL="0">
              <a:buNone/>
            </a:pPr>
            <a:r>
              <a:rPr lang="en-US" sz="1100" b="1" dirty="0">
                <a:solidFill>
                  <a:srgbClr val="0F1F3D"/>
                </a:solidFill>
              </a:rPr>
              <a:t>POC/MVP rapid prototyping</a:t>
            </a:r>
            <a:endParaRPr lang="en-US" sz="1100" dirty="0"/>
          </a:p>
        </p:txBody>
      </p:sp>
      <p:sp>
        <p:nvSpPr>
          <p:cNvPr id="46" name="Shape 44"/>
          <p:cNvSpPr/>
          <p:nvPr/>
        </p:nvSpPr>
        <p:spPr>
          <a:xfrm>
            <a:off x="2331720" y="3538728"/>
            <a:ext cx="2103120" cy="475488"/>
          </a:xfrm>
          <a:prstGeom prst="rect">
            <a:avLst/>
          </a:prstGeom>
          <a:solidFill>
            <a:srgbClr val="FFFFFF"/>
          </a:solidFill>
          <a:ln w="12700">
            <a:solidFill>
              <a:srgbClr val="CBD5E1"/>
            </a:solidFill>
            <a:prstDash val="solid"/>
          </a:ln>
        </p:spPr>
      </p:sp>
      <p:sp>
        <p:nvSpPr>
          <p:cNvPr id="47" name="Text 45"/>
          <p:cNvSpPr/>
          <p:nvPr/>
        </p:nvSpPr>
        <p:spPr>
          <a:xfrm>
            <a:off x="2404872" y="3538728"/>
            <a:ext cx="1956816" cy="475488"/>
          </a:xfrm>
          <a:prstGeom prst="rect">
            <a:avLst/>
          </a:prstGeom>
          <a:noFill/>
          <a:ln/>
        </p:spPr>
        <p:txBody>
          <a:bodyPr wrap="square" rtlCol="0" anchor="ctr"/>
          <a:lstStyle/>
          <a:p>
            <a:pPr indent="0" marL="0">
              <a:buNone/>
            </a:pPr>
            <a:r>
              <a:rPr lang="en-US" sz="950" dirty="0">
                <a:solidFill>
                  <a:srgbClr val="D97706"/>
                </a:solidFill>
              </a:rPr>
              <a:t>★★★ Multi-agent builds + tests</a:t>
            </a:r>
            <a:endParaRPr lang="en-US" sz="950" dirty="0"/>
          </a:p>
        </p:txBody>
      </p:sp>
      <p:sp>
        <p:nvSpPr>
          <p:cNvPr id="48" name="Shape 46"/>
          <p:cNvSpPr/>
          <p:nvPr/>
        </p:nvSpPr>
        <p:spPr>
          <a:xfrm>
            <a:off x="4434840" y="3538728"/>
            <a:ext cx="2103120" cy="475488"/>
          </a:xfrm>
          <a:prstGeom prst="rect">
            <a:avLst/>
          </a:prstGeom>
          <a:solidFill>
            <a:srgbClr val="FFFFFF"/>
          </a:solidFill>
          <a:ln w="12700">
            <a:solidFill>
              <a:srgbClr val="CBD5E1"/>
            </a:solidFill>
            <a:prstDash val="solid"/>
          </a:ln>
        </p:spPr>
      </p:sp>
      <p:sp>
        <p:nvSpPr>
          <p:cNvPr id="49" name="Text 47"/>
          <p:cNvSpPr/>
          <p:nvPr/>
        </p:nvSpPr>
        <p:spPr>
          <a:xfrm>
            <a:off x="4507992" y="3538728"/>
            <a:ext cx="1956816" cy="475488"/>
          </a:xfrm>
          <a:prstGeom prst="rect">
            <a:avLst/>
          </a:prstGeom>
          <a:noFill/>
          <a:ln/>
        </p:spPr>
        <p:txBody>
          <a:bodyPr wrap="square" rtlCol="0" anchor="ctr"/>
          <a:lstStyle/>
          <a:p>
            <a:pPr indent="0" marL="0">
              <a:buNone/>
            </a:pPr>
            <a:r>
              <a:rPr lang="en-US" sz="950" dirty="0">
                <a:solidFill>
                  <a:srgbClr val="1F883D"/>
                </a:solidFill>
              </a:rPr>
              <a:t>★★★ Assign issue → auto PR</a:t>
            </a:r>
            <a:endParaRPr lang="en-US" sz="950" dirty="0"/>
          </a:p>
        </p:txBody>
      </p:sp>
      <p:sp>
        <p:nvSpPr>
          <p:cNvPr id="50" name="Shape 48"/>
          <p:cNvSpPr/>
          <p:nvPr/>
        </p:nvSpPr>
        <p:spPr>
          <a:xfrm>
            <a:off x="6537960" y="3538728"/>
            <a:ext cx="2103120" cy="475488"/>
          </a:xfrm>
          <a:prstGeom prst="rect">
            <a:avLst/>
          </a:prstGeom>
          <a:solidFill>
            <a:srgbClr val="FFFFFF"/>
          </a:solidFill>
          <a:ln w="12700">
            <a:solidFill>
              <a:srgbClr val="CBD5E1"/>
            </a:solidFill>
            <a:prstDash val="solid"/>
          </a:ln>
        </p:spPr>
      </p:sp>
      <p:sp>
        <p:nvSpPr>
          <p:cNvPr id="51" name="Text 49"/>
          <p:cNvSpPr/>
          <p:nvPr/>
        </p:nvSpPr>
        <p:spPr>
          <a:xfrm>
            <a:off x="6611112" y="3538728"/>
            <a:ext cx="1956816" cy="475488"/>
          </a:xfrm>
          <a:prstGeom prst="rect">
            <a:avLst/>
          </a:prstGeom>
          <a:noFill/>
          <a:ln/>
        </p:spPr>
        <p:txBody>
          <a:bodyPr wrap="square" rtlCol="0" anchor="ctr"/>
          <a:lstStyle/>
          <a:p>
            <a:pPr indent="0" marL="0">
              <a:buNone/>
            </a:pPr>
            <a:r>
              <a:rPr lang="en-US" sz="950" dirty="0">
                <a:solidFill>
                  <a:srgbClr val="4285F4"/>
                </a:solidFill>
              </a:rPr>
              <a:t>★★★ Agent mode + GCP deploy</a:t>
            </a:r>
            <a:endParaRPr lang="en-US" sz="950" dirty="0"/>
          </a:p>
        </p:txBody>
      </p:sp>
      <p:sp>
        <p:nvSpPr>
          <p:cNvPr id="52" name="Shape 50"/>
          <p:cNvSpPr/>
          <p:nvPr/>
        </p:nvSpPr>
        <p:spPr>
          <a:xfrm>
            <a:off x="137160" y="4069080"/>
            <a:ext cx="2194560" cy="475488"/>
          </a:xfrm>
          <a:prstGeom prst="rect">
            <a:avLst/>
          </a:prstGeom>
          <a:solidFill>
            <a:srgbClr val="EBF4F7"/>
          </a:solidFill>
          <a:ln w="12700">
            <a:solidFill>
              <a:srgbClr val="CBD5E1"/>
            </a:solidFill>
            <a:prstDash val="solid"/>
          </a:ln>
        </p:spPr>
      </p:sp>
      <p:sp>
        <p:nvSpPr>
          <p:cNvPr id="53" name="Text 51"/>
          <p:cNvSpPr/>
          <p:nvPr/>
        </p:nvSpPr>
        <p:spPr>
          <a:xfrm>
            <a:off x="210312" y="4069080"/>
            <a:ext cx="2048256" cy="475488"/>
          </a:xfrm>
          <a:prstGeom prst="rect">
            <a:avLst/>
          </a:prstGeom>
          <a:noFill/>
          <a:ln/>
        </p:spPr>
        <p:txBody>
          <a:bodyPr wrap="square" rtlCol="0" anchor="ctr"/>
          <a:lstStyle/>
          <a:p>
            <a:pPr indent="0" marL="0">
              <a:buNone/>
            </a:pPr>
            <a:r>
              <a:rPr lang="en-US" sz="1100" b="1" dirty="0">
                <a:solidFill>
                  <a:srgbClr val="0F1F3D"/>
                </a:solidFill>
              </a:rPr>
              <a:t>Trade-off documentation</a:t>
            </a:r>
            <a:endParaRPr lang="en-US" sz="1100" dirty="0"/>
          </a:p>
        </p:txBody>
      </p:sp>
      <p:sp>
        <p:nvSpPr>
          <p:cNvPr id="54" name="Shape 52"/>
          <p:cNvSpPr/>
          <p:nvPr/>
        </p:nvSpPr>
        <p:spPr>
          <a:xfrm>
            <a:off x="2331720" y="4069080"/>
            <a:ext cx="2103120" cy="475488"/>
          </a:xfrm>
          <a:prstGeom prst="rect">
            <a:avLst/>
          </a:prstGeom>
          <a:solidFill>
            <a:srgbClr val="EBF4F7"/>
          </a:solidFill>
          <a:ln w="12700">
            <a:solidFill>
              <a:srgbClr val="CBD5E1"/>
            </a:solidFill>
            <a:prstDash val="solid"/>
          </a:ln>
        </p:spPr>
      </p:sp>
      <p:sp>
        <p:nvSpPr>
          <p:cNvPr id="55" name="Text 53"/>
          <p:cNvSpPr/>
          <p:nvPr/>
        </p:nvSpPr>
        <p:spPr>
          <a:xfrm>
            <a:off x="2404872" y="4069080"/>
            <a:ext cx="1956816" cy="475488"/>
          </a:xfrm>
          <a:prstGeom prst="rect">
            <a:avLst/>
          </a:prstGeom>
          <a:noFill/>
          <a:ln/>
        </p:spPr>
        <p:txBody>
          <a:bodyPr wrap="square" rtlCol="0" anchor="ctr"/>
          <a:lstStyle/>
          <a:p>
            <a:pPr indent="0" marL="0">
              <a:buNone/>
            </a:pPr>
            <a:r>
              <a:rPr lang="en-US" sz="950" dirty="0">
                <a:solidFill>
                  <a:srgbClr val="D97706"/>
                </a:solidFill>
              </a:rPr>
              <a:t>★★★ Structured analysis + ADRs</a:t>
            </a:r>
            <a:endParaRPr lang="en-US" sz="950" dirty="0"/>
          </a:p>
        </p:txBody>
      </p:sp>
      <p:sp>
        <p:nvSpPr>
          <p:cNvPr id="56" name="Shape 54"/>
          <p:cNvSpPr/>
          <p:nvPr/>
        </p:nvSpPr>
        <p:spPr>
          <a:xfrm>
            <a:off x="4434840" y="4069080"/>
            <a:ext cx="2103120" cy="475488"/>
          </a:xfrm>
          <a:prstGeom prst="rect">
            <a:avLst/>
          </a:prstGeom>
          <a:solidFill>
            <a:srgbClr val="EBF4F7"/>
          </a:solidFill>
          <a:ln w="12700">
            <a:solidFill>
              <a:srgbClr val="CBD5E1"/>
            </a:solidFill>
            <a:prstDash val="solid"/>
          </a:ln>
        </p:spPr>
      </p:sp>
      <p:sp>
        <p:nvSpPr>
          <p:cNvPr id="57" name="Text 55"/>
          <p:cNvSpPr/>
          <p:nvPr/>
        </p:nvSpPr>
        <p:spPr>
          <a:xfrm>
            <a:off x="4507992" y="4069080"/>
            <a:ext cx="1956816" cy="475488"/>
          </a:xfrm>
          <a:prstGeom prst="rect">
            <a:avLst/>
          </a:prstGeom>
          <a:noFill/>
          <a:ln/>
        </p:spPr>
        <p:txBody>
          <a:bodyPr wrap="square" rtlCol="0" anchor="ctr"/>
          <a:lstStyle/>
          <a:p>
            <a:pPr indent="0" marL="0">
              <a:buNone/>
            </a:pPr>
            <a:r>
              <a:rPr lang="en-US" sz="950" dirty="0">
                <a:solidFill>
                  <a:srgbClr val="475569"/>
                </a:solidFill>
              </a:rPr>
              <a:t>★★ Chat-based comparison</a:t>
            </a:r>
            <a:endParaRPr lang="en-US" sz="950" dirty="0"/>
          </a:p>
        </p:txBody>
      </p:sp>
      <p:sp>
        <p:nvSpPr>
          <p:cNvPr id="58" name="Shape 56"/>
          <p:cNvSpPr/>
          <p:nvPr/>
        </p:nvSpPr>
        <p:spPr>
          <a:xfrm>
            <a:off x="6537960" y="4069080"/>
            <a:ext cx="2103120" cy="475488"/>
          </a:xfrm>
          <a:prstGeom prst="rect">
            <a:avLst/>
          </a:prstGeom>
          <a:solidFill>
            <a:srgbClr val="EBF4F7"/>
          </a:solidFill>
          <a:ln w="12700">
            <a:solidFill>
              <a:srgbClr val="CBD5E1"/>
            </a:solidFill>
            <a:prstDash val="solid"/>
          </a:ln>
        </p:spPr>
      </p:sp>
      <p:sp>
        <p:nvSpPr>
          <p:cNvPr id="59" name="Text 57"/>
          <p:cNvSpPr/>
          <p:nvPr/>
        </p:nvSpPr>
        <p:spPr>
          <a:xfrm>
            <a:off x="6611112" y="4069080"/>
            <a:ext cx="1956816" cy="475488"/>
          </a:xfrm>
          <a:prstGeom prst="rect">
            <a:avLst/>
          </a:prstGeom>
          <a:noFill/>
          <a:ln/>
        </p:spPr>
        <p:txBody>
          <a:bodyPr wrap="square" rtlCol="0" anchor="ctr"/>
          <a:lstStyle/>
          <a:p>
            <a:pPr indent="0" marL="0">
              <a:buNone/>
            </a:pPr>
            <a:r>
              <a:rPr lang="en-US" sz="950" dirty="0">
                <a:solidFill>
                  <a:srgbClr val="475569"/>
                </a:solidFill>
              </a:rPr>
              <a:t>★★ Research-grounded with search</a:t>
            </a:r>
            <a:endParaRPr lang="en-US" sz="950" dirty="0"/>
          </a:p>
        </p:txBody>
      </p:sp>
      <p:sp>
        <p:nvSpPr>
          <p:cNvPr id="60" name="Text 58"/>
          <p:cNvSpPr/>
          <p:nvPr/>
        </p:nvSpPr>
        <p:spPr>
          <a:xfrm>
            <a:off x="274320" y="4663440"/>
            <a:ext cx="8595360" cy="365760"/>
          </a:xfrm>
          <a:prstGeom prst="rect">
            <a:avLst/>
          </a:prstGeom>
          <a:noFill/>
          <a:ln/>
        </p:spPr>
        <p:txBody>
          <a:bodyPr wrap="square" rtlCol="0" anchor="ctr"/>
          <a:lstStyle/>
          <a:p>
            <a:pPr algn="ctr" indent="0" marL="0">
              <a:buNone/>
            </a:pPr>
            <a:r>
              <a:rPr lang="en-US" sz="1000" i="1" dirty="0">
                <a:solidFill>
                  <a:srgbClr val="0077B6"/>
                </a:solidFill>
              </a:rPr>
              <a:t>Key insight: the tools have converged in many areas. The differentiator is now where each tool lives — your terminal, your IDE, or your browser.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97706"/>
          </a:solidFill>
          <a:ln w="12700">
            <a:solidFill>
              <a:srgbClr val="D97706"/>
            </a:solidFill>
            <a:prstDash val="solid"/>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1800" b="1" spc="100" kern="0" dirty="0">
                <a:solidFill>
                  <a:srgbClr val="FFFFFF"/>
                </a:solidFill>
              </a:rPr>
              <a:t>DEMO 1  ·  CLAUDE  ·  Architecture Reasoner</a:t>
            </a:r>
            <a:endParaRPr lang="en-US" sz="1800" dirty="0"/>
          </a:p>
        </p:txBody>
      </p:sp>
      <p:sp>
        <p:nvSpPr>
          <p:cNvPr id="4" name="Shape 2"/>
          <p:cNvSpPr/>
          <p:nvPr/>
        </p:nvSpPr>
        <p:spPr>
          <a:xfrm>
            <a:off x="182880" y="914400"/>
            <a:ext cx="4114800" cy="3931920"/>
          </a:xfrm>
          <a:prstGeom prst="rect">
            <a:avLst/>
          </a:prstGeom>
          <a:solidFill>
            <a:srgbClr val="1A3060"/>
          </a:solidFill>
          <a:ln w="12700">
            <a:solidFill>
              <a:srgbClr val="D97706">
                <a:alpha val="40000"/>
              </a:srgbClr>
            </a:solidFill>
            <a:prstDash val="solid"/>
          </a:ln>
        </p:spPr>
      </p:sp>
      <p:sp>
        <p:nvSpPr>
          <p:cNvPr id="5" name="Text 3"/>
          <p:cNvSpPr/>
          <p:nvPr/>
        </p:nvSpPr>
        <p:spPr>
          <a:xfrm>
            <a:off x="411480" y="1051560"/>
            <a:ext cx="3657600" cy="365760"/>
          </a:xfrm>
          <a:prstGeom prst="rect">
            <a:avLst/>
          </a:prstGeom>
          <a:noFill/>
          <a:ln/>
        </p:spPr>
        <p:txBody>
          <a:bodyPr wrap="square" rtlCol="0" anchor="ctr"/>
          <a:lstStyle/>
          <a:p>
            <a:pPr indent="0" marL="0">
              <a:buNone/>
            </a:pPr>
            <a:r>
              <a:rPr lang="en-US" sz="1400" b="1" dirty="0">
                <a:solidFill>
                  <a:srgbClr val="D97706"/>
                </a:solidFill>
              </a:rPr>
              <a:t>What We'll Show</a:t>
            </a:r>
            <a:endParaRPr lang="en-US" sz="1400" dirty="0"/>
          </a:p>
        </p:txBody>
      </p:sp>
      <p:sp>
        <p:nvSpPr>
          <p:cNvPr id="6" name="Text 4"/>
          <p:cNvSpPr/>
          <p:nvPr/>
        </p:nvSpPr>
        <p:spPr>
          <a:xfrm>
            <a:off x="411480" y="1508760"/>
            <a:ext cx="3657600" cy="530352"/>
          </a:xfrm>
          <a:prstGeom prst="rect">
            <a:avLst/>
          </a:prstGeom>
          <a:noFill/>
          <a:ln/>
        </p:spPr>
        <p:txBody>
          <a:bodyPr wrap="square" rtlCol="0" anchor="t"/>
          <a:lstStyle/>
          <a:p>
            <a:pPr indent="0" marL="0">
              <a:buNone/>
            </a:pPr>
            <a:r>
              <a:rPr lang="en-US" sz="1000" b="1" dirty="0">
                <a:solidFill>
                  <a:srgbClr val="D97706"/>
                </a:solidFill>
              </a:rPr>
              <a:t>1</a:t>
            </a:r>
            <a:pPr indent="0" marL="0">
              <a:buNone/>
            </a:pPr>
            <a:r>
              <a:rPr lang="en-US" sz="1000" dirty="0">
                <a:solidFill>
                  <a:srgbClr val="FFFFFF"/>
                </a:solidFill>
              </a:rPr>
              <a:t>  Upload a microservices codebase to a Claude Project (persistent context across sessions)</a:t>
            </a:r>
            <a:endParaRPr lang="en-US" sz="1000" dirty="0"/>
          </a:p>
        </p:txBody>
      </p:sp>
      <p:sp>
        <p:nvSpPr>
          <p:cNvPr id="7" name="Text 5"/>
          <p:cNvSpPr/>
          <p:nvPr/>
        </p:nvSpPr>
        <p:spPr>
          <a:xfrm>
            <a:off x="411480" y="2112264"/>
            <a:ext cx="3657600" cy="530352"/>
          </a:xfrm>
          <a:prstGeom prst="rect">
            <a:avLst/>
          </a:prstGeom>
          <a:noFill/>
          <a:ln/>
        </p:spPr>
        <p:txBody>
          <a:bodyPr wrap="square" rtlCol="0" anchor="t"/>
          <a:lstStyle/>
          <a:p>
            <a:pPr indent="0" marL="0">
              <a:buNone/>
            </a:pPr>
            <a:r>
              <a:rPr lang="en-US" sz="1000" b="1" dirty="0">
                <a:solidFill>
                  <a:srgbClr val="D97706"/>
                </a:solidFill>
              </a:rPr>
              <a:t>2</a:t>
            </a:r>
            <a:pPr indent="0" marL="0">
              <a:buNone/>
            </a:pPr>
            <a:r>
              <a:rPr lang="en-US" sz="1000" dirty="0">
                <a:solidFill>
                  <a:srgbClr val="FFFFFF"/>
                </a:solidFill>
              </a:rPr>
              <a:t>  Ask: 'Reverse-engineer the architecture — identify services, dependencies, data flows, and concerns'</a:t>
            </a:r>
            <a:endParaRPr lang="en-US" sz="1000" dirty="0"/>
          </a:p>
        </p:txBody>
      </p:sp>
      <p:sp>
        <p:nvSpPr>
          <p:cNvPr id="8" name="Text 6"/>
          <p:cNvSpPr/>
          <p:nvPr/>
        </p:nvSpPr>
        <p:spPr>
          <a:xfrm>
            <a:off x="411480" y="2715768"/>
            <a:ext cx="3657600" cy="530352"/>
          </a:xfrm>
          <a:prstGeom prst="rect">
            <a:avLst/>
          </a:prstGeom>
          <a:noFill/>
          <a:ln/>
        </p:spPr>
        <p:txBody>
          <a:bodyPr wrap="square" rtlCol="0" anchor="t"/>
          <a:lstStyle/>
          <a:p>
            <a:pPr indent="0" marL="0">
              <a:buNone/>
            </a:pPr>
            <a:r>
              <a:rPr lang="en-US" sz="1000" b="1" dirty="0">
                <a:solidFill>
                  <a:srgbClr val="D97706"/>
                </a:solidFill>
              </a:rPr>
              <a:t>3</a:t>
            </a:r>
            <a:pPr indent="0" marL="0">
              <a:buNone/>
            </a:pPr>
            <a:r>
              <a:rPr lang="en-US" sz="1000" dirty="0">
                <a:solidFill>
                  <a:srgbClr val="FFFFFF"/>
                </a:solidFill>
              </a:rPr>
              <a:t>  Claude produces a structured narrative + Mermaid C4 diagram</a:t>
            </a:r>
            <a:endParaRPr lang="en-US" sz="1000" dirty="0"/>
          </a:p>
        </p:txBody>
      </p:sp>
      <p:sp>
        <p:nvSpPr>
          <p:cNvPr id="9" name="Text 7"/>
          <p:cNvSpPr/>
          <p:nvPr/>
        </p:nvSpPr>
        <p:spPr>
          <a:xfrm>
            <a:off x="411480" y="3319272"/>
            <a:ext cx="3657600" cy="530352"/>
          </a:xfrm>
          <a:prstGeom prst="rect">
            <a:avLst/>
          </a:prstGeom>
          <a:noFill/>
          <a:ln/>
        </p:spPr>
        <p:txBody>
          <a:bodyPr wrap="square" rtlCol="0" anchor="t"/>
          <a:lstStyle/>
          <a:p>
            <a:pPr indent="0" marL="0">
              <a:buNone/>
            </a:pPr>
            <a:r>
              <a:rPr lang="en-US" sz="1000" b="1" dirty="0">
                <a:solidFill>
                  <a:srgbClr val="D97706"/>
                </a:solidFill>
              </a:rPr>
              <a:t>4</a:t>
            </a:r>
            <a:pPr indent="0" marL="0">
              <a:buNone/>
            </a:pPr>
            <a:r>
              <a:rPr lang="en-US" sz="1000" dirty="0">
                <a:solidFill>
                  <a:srgbClr val="FFFFFF"/>
                </a:solidFill>
              </a:rPr>
              <a:t>  Follow-up: 'Generate an ADR for replacing sync REST with async event-driven messaging'</a:t>
            </a:r>
            <a:endParaRPr lang="en-US" sz="1000" dirty="0"/>
          </a:p>
        </p:txBody>
      </p:sp>
      <p:sp>
        <p:nvSpPr>
          <p:cNvPr id="10" name="Text 8"/>
          <p:cNvSpPr/>
          <p:nvPr/>
        </p:nvSpPr>
        <p:spPr>
          <a:xfrm>
            <a:off x="411480" y="3922776"/>
            <a:ext cx="3657600" cy="530352"/>
          </a:xfrm>
          <a:prstGeom prst="rect">
            <a:avLst/>
          </a:prstGeom>
          <a:noFill/>
          <a:ln/>
        </p:spPr>
        <p:txBody>
          <a:bodyPr wrap="square" rtlCol="0" anchor="t"/>
          <a:lstStyle/>
          <a:p>
            <a:pPr indent="0" marL="0">
              <a:buNone/>
            </a:pPr>
            <a:r>
              <a:rPr lang="en-US" sz="1000" b="1" dirty="0">
                <a:solidFill>
                  <a:srgbClr val="D97706"/>
                </a:solidFill>
              </a:rPr>
              <a:t>5</a:t>
            </a:r>
            <a:pPr indent="0" marL="0">
              <a:buNone/>
            </a:pPr>
            <a:r>
              <a:rPr lang="en-US" sz="1000" dirty="0">
                <a:solidFill>
                  <a:srgbClr val="FFFFFF"/>
                </a:solidFill>
              </a:rPr>
              <a:t>  Result: Full MADR-format ADR with trade-offs, risks, and migration path</a:t>
            </a:r>
            <a:endParaRPr lang="en-US" sz="1000" dirty="0"/>
          </a:p>
        </p:txBody>
      </p:sp>
      <p:sp>
        <p:nvSpPr>
          <p:cNvPr id="11" name="Shape 9"/>
          <p:cNvSpPr/>
          <p:nvPr/>
        </p:nvSpPr>
        <p:spPr>
          <a:xfrm>
            <a:off x="4526280" y="914400"/>
            <a:ext cx="4434840" cy="3931920"/>
          </a:xfrm>
          <a:prstGeom prst="rect">
            <a:avLst/>
          </a:prstGeom>
          <a:solidFill>
            <a:srgbClr val="0A0F1E"/>
          </a:solidFill>
          <a:ln w="12700">
            <a:solidFill>
              <a:srgbClr val="334155"/>
            </a:solidFill>
            <a:prstDash val="solid"/>
          </a:ln>
        </p:spPr>
      </p:sp>
      <p:sp>
        <p:nvSpPr>
          <p:cNvPr id="12" name="Text 10"/>
          <p:cNvSpPr/>
          <p:nvPr/>
        </p:nvSpPr>
        <p:spPr>
          <a:xfrm>
            <a:off x="4709160" y="1051560"/>
            <a:ext cx="3931920" cy="365760"/>
          </a:xfrm>
          <a:prstGeom prst="rect">
            <a:avLst/>
          </a:prstGeom>
          <a:noFill/>
          <a:ln/>
        </p:spPr>
        <p:txBody>
          <a:bodyPr wrap="square" rtlCol="0" anchor="ctr"/>
          <a:lstStyle/>
          <a:p>
            <a:pPr indent="0" marL="0">
              <a:buNone/>
            </a:pPr>
            <a:r>
              <a:rPr lang="en-US" sz="1300" b="1" dirty="0">
                <a:solidFill>
                  <a:srgbClr val="00B4D8"/>
                </a:solidFill>
              </a:rPr>
              <a:t>Sample Prompt</a:t>
            </a:r>
            <a:endParaRPr lang="en-US" sz="1300" dirty="0"/>
          </a:p>
        </p:txBody>
      </p:sp>
      <p:sp>
        <p:nvSpPr>
          <p:cNvPr id="13" name="Text 11"/>
          <p:cNvSpPr/>
          <p:nvPr/>
        </p:nvSpPr>
        <p:spPr>
          <a:xfrm>
            <a:off x="4709160" y="1508760"/>
            <a:ext cx="4114800" cy="3017520"/>
          </a:xfrm>
          <a:prstGeom prst="rect">
            <a:avLst/>
          </a:prstGeom>
          <a:noFill/>
          <a:ln/>
        </p:spPr>
        <p:txBody>
          <a:bodyPr wrap="square" rtlCol="0" anchor="t"/>
          <a:lstStyle/>
          <a:p>
            <a:pPr indent="0" marL="0">
              <a:buNone/>
            </a:pPr>
            <a:r>
              <a:rPr lang="en-US" sz="950" dirty="0">
                <a:solidFill>
                  <a:srgbClr val="94A3B8"/>
                </a:solidFill>
                <a:latin typeface="Consolas" pitchFamily="34" charset="0"/>
                <a:ea typeface="Consolas" pitchFamily="34" charset="-122"/>
                <a:cs typeface="Consolas" pitchFamily="34" charset="-120"/>
              </a:rPr>
              <a:t>You are a senior solution architect.</a:t>
            </a:r>
            <a:endParaRPr lang="en-US" sz="950" dirty="0"/>
          </a:p>
          <a:p>
            <a:pPr indent="0" marL="0">
              <a:buNone/>
            </a:pP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Analyse this codebase and:</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1. Identify all services and responsibilities</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2. Map the dependency graph</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3. Highlight architectural concerns</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   (coupling, resilience, scalability)</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4. Produce a Mermaid C4 context diagram</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5. Suggest 3 improvement priorities</a:t>
            </a:r>
            <a:endParaRPr lang="en-US" sz="950" dirty="0"/>
          </a:p>
          <a:p>
            <a:pPr indent="0" marL="0">
              <a:buNone/>
            </a:pP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[PASTE CODE or use Project context]</a:t>
            </a:r>
            <a:endParaRPr lang="en-US" sz="950" dirty="0"/>
          </a:p>
          <a:p>
            <a:pPr indent="0" marL="0">
              <a:buNone/>
            </a:pP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Then generate an ADR (MADR format) for</a:t>
            </a:r>
            <a:endParaRPr lang="en-US" sz="950" dirty="0"/>
          </a:p>
          <a:p>
            <a:pPr indent="0" marL="0">
              <a:buNone/>
            </a:pPr>
            <a:r>
              <a:rPr lang="en-US" sz="950" dirty="0">
                <a:solidFill>
                  <a:srgbClr val="94A3B8"/>
                </a:solidFill>
                <a:latin typeface="Consolas" pitchFamily="34" charset="0"/>
                <a:ea typeface="Consolas" pitchFamily="34" charset="-122"/>
                <a:cs typeface="Consolas" pitchFamily="34" charset="-120"/>
              </a:rPr>
              <a:t>migrating to async event-driven messaging.</a:t>
            </a:r>
            <a:endParaRPr lang="en-US" sz="950" dirty="0"/>
          </a:p>
        </p:txBody>
      </p:sp>
      <p:sp>
        <p:nvSpPr>
          <p:cNvPr id="14" name="Shape 12"/>
          <p:cNvSpPr/>
          <p:nvPr/>
        </p:nvSpPr>
        <p:spPr>
          <a:xfrm>
            <a:off x="4526280" y="4617720"/>
            <a:ext cx="4434840" cy="384048"/>
          </a:xfrm>
          <a:prstGeom prst="rect">
            <a:avLst/>
          </a:prstGeom>
          <a:solidFill>
            <a:srgbClr val="D97706">
              <a:alpha val="30000"/>
            </a:srgbClr>
          </a:solidFill>
          <a:ln w="12700">
            <a:solidFill>
              <a:srgbClr val="D97706"/>
            </a:solidFill>
            <a:prstDash val="solid"/>
          </a:ln>
        </p:spPr>
      </p:sp>
      <p:sp>
        <p:nvSpPr>
          <p:cNvPr id="15" name="Text 13"/>
          <p:cNvSpPr/>
          <p:nvPr/>
        </p:nvSpPr>
        <p:spPr>
          <a:xfrm>
            <a:off x="4617720" y="4617720"/>
            <a:ext cx="4251960" cy="384048"/>
          </a:xfrm>
          <a:prstGeom prst="rect">
            <a:avLst/>
          </a:prstGeom>
          <a:noFill/>
          <a:ln/>
        </p:spPr>
        <p:txBody>
          <a:bodyPr wrap="square" rtlCol="0" anchor="ctr"/>
          <a:lstStyle/>
          <a:p>
            <a:pPr indent="0" marL="0">
              <a:buNone/>
            </a:pPr>
            <a:r>
              <a:rPr lang="en-US" sz="850" i="1" dirty="0">
                <a:solidFill>
                  <a:srgbClr val="FFFFFF"/>
                </a:solidFill>
              </a:rPr>
              <a:t>Output: Architecture narrative · C4 Mermaid diagram · MADR ADR · Improvement priorities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F883D"/>
          </a:solidFill>
          <a:ln w="12700">
            <a:solidFill>
              <a:srgbClr val="1F883D"/>
            </a:solidFill>
            <a:prstDash val="solid"/>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1800" b="1" spc="100" kern="0" dirty="0">
                <a:solidFill>
                  <a:srgbClr val="FFFFFF"/>
                </a:solidFill>
              </a:rPr>
              <a:t>DEMO 2  ·  GITHUB COPILOT  ·  Agentic DevOps Partner</a:t>
            </a:r>
            <a:endParaRPr lang="en-US" sz="1800" dirty="0"/>
          </a:p>
        </p:txBody>
      </p:sp>
      <p:sp>
        <p:nvSpPr>
          <p:cNvPr id="4" name="Shape 2"/>
          <p:cNvSpPr/>
          <p:nvPr/>
        </p:nvSpPr>
        <p:spPr>
          <a:xfrm>
            <a:off x="182880" y="914400"/>
            <a:ext cx="4206240" cy="3886200"/>
          </a:xfrm>
          <a:prstGeom prst="rect">
            <a:avLst/>
          </a:prstGeom>
          <a:solidFill>
            <a:srgbClr val="1A3060"/>
          </a:solidFill>
          <a:ln w="12700">
            <a:solidFill>
              <a:srgbClr val="1F883D"/>
            </a:solidFill>
            <a:prstDash val="solid"/>
          </a:ln>
        </p:spPr>
      </p:sp>
      <p:sp>
        <p:nvSpPr>
          <p:cNvPr id="5" name="Shape 3"/>
          <p:cNvSpPr/>
          <p:nvPr/>
        </p:nvSpPr>
        <p:spPr>
          <a:xfrm>
            <a:off x="182880" y="914400"/>
            <a:ext cx="4206240" cy="73152"/>
          </a:xfrm>
          <a:prstGeom prst="rect">
            <a:avLst/>
          </a:prstGeom>
          <a:solidFill>
            <a:srgbClr val="1F883D"/>
          </a:solidFill>
          <a:ln w="12700">
            <a:solidFill>
              <a:srgbClr val="1F883D"/>
            </a:solidFill>
            <a:prstDash val="solid"/>
          </a:ln>
        </p:spPr>
      </p:sp>
      <p:sp>
        <p:nvSpPr>
          <p:cNvPr id="6" name="Text 4"/>
          <p:cNvSpPr/>
          <p:nvPr/>
        </p:nvSpPr>
        <p:spPr>
          <a:xfrm>
            <a:off x="320040" y="1024128"/>
            <a:ext cx="3931920" cy="365760"/>
          </a:xfrm>
          <a:prstGeom prst="rect">
            <a:avLst/>
          </a:prstGeom>
          <a:noFill/>
          <a:ln/>
        </p:spPr>
        <p:txBody>
          <a:bodyPr wrap="square" rtlCol="0" anchor="ctr"/>
          <a:lstStyle/>
          <a:p>
            <a:pPr indent="0" marL="0">
              <a:buNone/>
            </a:pPr>
            <a:r>
              <a:rPr lang="en-US" sz="1200" b="1" dirty="0">
                <a:solidFill>
                  <a:srgbClr val="1F883D"/>
                </a:solidFill>
              </a:rPr>
              <a:t>Scenario A: Agent Mode — IaC + Security</a:t>
            </a:r>
            <a:endParaRPr lang="en-US" sz="1200" dirty="0"/>
          </a:p>
        </p:txBody>
      </p:sp>
      <p:sp>
        <p:nvSpPr>
          <p:cNvPr id="7" name="Text 5"/>
          <p:cNvSpPr/>
          <p:nvPr/>
        </p:nvSpPr>
        <p:spPr>
          <a:xfrm>
            <a:off x="320040" y="1371600"/>
            <a:ext cx="3931920" cy="274320"/>
          </a:xfrm>
          <a:prstGeom prst="rect">
            <a:avLst/>
          </a:prstGeom>
          <a:noFill/>
          <a:ln/>
        </p:spPr>
        <p:txBody>
          <a:bodyPr wrap="square" rtlCol="0" anchor="ctr"/>
          <a:lstStyle/>
          <a:p>
            <a:pPr indent="0" marL="0">
              <a:buNone/>
            </a:pPr>
            <a:r>
              <a:rPr lang="en-US" sz="1000" i="1" dirty="0">
                <a:solidFill>
                  <a:srgbClr val="94A3B8"/>
                </a:solidFill>
              </a:rPr>
              <a:t>For Infrastructure / Solution Architects</a:t>
            </a:r>
            <a:endParaRPr lang="en-US" sz="1000" dirty="0"/>
          </a:p>
        </p:txBody>
      </p:sp>
      <p:sp>
        <p:nvSpPr>
          <p:cNvPr id="8" name="Text 6"/>
          <p:cNvSpPr/>
          <p:nvPr/>
        </p:nvSpPr>
        <p:spPr>
          <a:xfrm>
            <a:off x="365760" y="1783080"/>
            <a:ext cx="3749040" cy="585216"/>
          </a:xfrm>
          <a:prstGeom prst="rect">
            <a:avLst/>
          </a:prstGeom>
          <a:noFill/>
          <a:ln/>
        </p:spPr>
        <p:txBody>
          <a:bodyPr wrap="square" rtlCol="0" anchor="t"/>
          <a:lstStyle/>
          <a:p>
            <a:pPr indent="0" marL="0">
              <a:buNone/>
            </a:pPr>
            <a:r>
              <a:rPr lang="en-US" sz="1050" b="1" dirty="0">
                <a:solidFill>
                  <a:srgbClr val="1F883D"/>
                </a:solidFill>
              </a:rPr>
              <a:t>1. </a:t>
            </a:r>
            <a:pPr indent="0" marL="0">
              <a:buNone/>
            </a:pPr>
            <a:r>
              <a:rPr lang="en-US" sz="1050" dirty="0">
                <a:solidFill>
                  <a:srgbClr val="FFFFFF"/>
                </a:solidFill>
              </a:rPr>
              <a:t>Open VS Code → Agent mode in Copilot Edits</a:t>
            </a:r>
            <a:endParaRPr lang="en-US" sz="1050" dirty="0"/>
          </a:p>
        </p:txBody>
      </p:sp>
      <p:sp>
        <p:nvSpPr>
          <p:cNvPr id="9" name="Text 7"/>
          <p:cNvSpPr/>
          <p:nvPr/>
        </p:nvSpPr>
        <p:spPr>
          <a:xfrm>
            <a:off x="365760" y="2441448"/>
            <a:ext cx="3749040" cy="585216"/>
          </a:xfrm>
          <a:prstGeom prst="rect">
            <a:avLst/>
          </a:prstGeom>
          <a:noFill/>
          <a:ln/>
        </p:spPr>
        <p:txBody>
          <a:bodyPr wrap="square" rtlCol="0" anchor="t"/>
          <a:lstStyle/>
          <a:p>
            <a:pPr indent="0" marL="0">
              <a:buNone/>
            </a:pPr>
            <a:r>
              <a:rPr lang="en-US" sz="1050" b="1" dirty="0">
                <a:solidFill>
                  <a:srgbClr val="1F883D"/>
                </a:solidFill>
              </a:rPr>
              <a:t>2. </a:t>
            </a:r>
            <a:pPr indent="0" marL="0">
              <a:buNone/>
            </a:pPr>
            <a:r>
              <a:rPr lang="en-US" sz="1050" dirty="0">
                <a:solidFill>
                  <a:srgbClr val="FFFFFF"/>
                </a:solidFill>
              </a:rPr>
              <a:t>Prompt: 'Create AKS cluster with private networking, AAD, and RBAC in Terraform'</a:t>
            </a:r>
            <a:endParaRPr lang="en-US" sz="1050" dirty="0"/>
          </a:p>
        </p:txBody>
      </p:sp>
      <p:sp>
        <p:nvSpPr>
          <p:cNvPr id="10" name="Text 8"/>
          <p:cNvSpPr/>
          <p:nvPr/>
        </p:nvSpPr>
        <p:spPr>
          <a:xfrm>
            <a:off x="365760" y="3099816"/>
            <a:ext cx="3749040" cy="585216"/>
          </a:xfrm>
          <a:prstGeom prst="rect">
            <a:avLst/>
          </a:prstGeom>
          <a:noFill/>
          <a:ln/>
        </p:spPr>
        <p:txBody>
          <a:bodyPr wrap="square" rtlCol="0" anchor="t"/>
          <a:lstStyle/>
          <a:p>
            <a:pPr indent="0" marL="0">
              <a:buNone/>
            </a:pPr>
            <a:r>
              <a:rPr lang="en-US" sz="1050" b="1" dirty="0">
                <a:solidFill>
                  <a:srgbClr val="1F883D"/>
                </a:solidFill>
              </a:rPr>
              <a:t>3. </a:t>
            </a:r>
            <a:pPr indent="0" marL="0">
              <a:buNone/>
            </a:pPr>
            <a:r>
              <a:rPr lang="en-US" sz="1050" dirty="0">
                <a:solidFill>
                  <a:srgbClr val="FFFFFF"/>
                </a:solidFill>
              </a:rPr>
              <a:t>Agent scaffolds multi-file Terraform config with self-healing</a:t>
            </a:r>
            <a:endParaRPr lang="en-US" sz="1050" dirty="0"/>
          </a:p>
        </p:txBody>
      </p:sp>
      <p:sp>
        <p:nvSpPr>
          <p:cNvPr id="11" name="Text 9"/>
          <p:cNvSpPr/>
          <p:nvPr/>
        </p:nvSpPr>
        <p:spPr>
          <a:xfrm>
            <a:off x="365760" y="3758184"/>
            <a:ext cx="3749040" cy="585216"/>
          </a:xfrm>
          <a:prstGeom prst="rect">
            <a:avLst/>
          </a:prstGeom>
          <a:noFill/>
          <a:ln/>
        </p:spPr>
        <p:txBody>
          <a:bodyPr wrap="square" rtlCol="0" anchor="t"/>
          <a:lstStyle/>
          <a:p>
            <a:pPr indent="0" marL="0">
              <a:buNone/>
            </a:pPr>
            <a:r>
              <a:rPr lang="en-US" sz="1050" b="1" dirty="0">
                <a:solidFill>
                  <a:srgbClr val="1F883D"/>
                </a:solidFill>
              </a:rPr>
              <a:t>4. </a:t>
            </a:r>
            <a:pPr indent="0" marL="0">
              <a:buNone/>
            </a:pPr>
            <a:r>
              <a:rPr lang="en-US" sz="1050" dirty="0">
                <a:solidFill>
                  <a:srgbClr val="FFFFFF"/>
                </a:solidFill>
              </a:rPr>
              <a:t>Ask Chat: 'Scan for security vulnerabilities' — built-in code + secret + dependency scan runs automatically</a:t>
            </a:r>
            <a:endParaRPr lang="en-US" sz="1050" dirty="0"/>
          </a:p>
        </p:txBody>
      </p:sp>
      <p:sp>
        <p:nvSpPr>
          <p:cNvPr id="12" name="Shape 10"/>
          <p:cNvSpPr/>
          <p:nvPr/>
        </p:nvSpPr>
        <p:spPr>
          <a:xfrm>
            <a:off x="4663440" y="914400"/>
            <a:ext cx="4206240" cy="3886200"/>
          </a:xfrm>
          <a:prstGeom prst="rect">
            <a:avLst/>
          </a:prstGeom>
          <a:solidFill>
            <a:srgbClr val="1A3060"/>
          </a:solidFill>
          <a:ln w="12700">
            <a:solidFill>
              <a:srgbClr val="58D68D"/>
            </a:solidFill>
            <a:prstDash val="solid"/>
          </a:ln>
        </p:spPr>
      </p:sp>
      <p:sp>
        <p:nvSpPr>
          <p:cNvPr id="13" name="Shape 11"/>
          <p:cNvSpPr/>
          <p:nvPr/>
        </p:nvSpPr>
        <p:spPr>
          <a:xfrm>
            <a:off x="4663440" y="914400"/>
            <a:ext cx="4206240" cy="73152"/>
          </a:xfrm>
          <a:prstGeom prst="rect">
            <a:avLst/>
          </a:prstGeom>
          <a:solidFill>
            <a:srgbClr val="58D68D"/>
          </a:solidFill>
          <a:ln w="12700">
            <a:solidFill>
              <a:srgbClr val="58D68D"/>
            </a:solidFill>
            <a:prstDash val="solid"/>
          </a:ln>
        </p:spPr>
      </p:sp>
      <p:sp>
        <p:nvSpPr>
          <p:cNvPr id="14" name="Text 12"/>
          <p:cNvSpPr/>
          <p:nvPr/>
        </p:nvSpPr>
        <p:spPr>
          <a:xfrm>
            <a:off x="4800600" y="1024128"/>
            <a:ext cx="3931920" cy="365760"/>
          </a:xfrm>
          <a:prstGeom prst="rect">
            <a:avLst/>
          </a:prstGeom>
          <a:noFill/>
          <a:ln/>
        </p:spPr>
        <p:txBody>
          <a:bodyPr wrap="square" rtlCol="0" anchor="ctr"/>
          <a:lstStyle/>
          <a:p>
            <a:pPr indent="0" marL="0">
              <a:buNone/>
            </a:pPr>
            <a:r>
              <a:rPr lang="en-US" sz="1200" b="1" dirty="0">
                <a:solidFill>
                  <a:srgbClr val="58D68D"/>
                </a:solidFill>
              </a:rPr>
              <a:t>Scenario B: Coding Agent — Issue to PR</a:t>
            </a:r>
            <a:endParaRPr lang="en-US" sz="1200" dirty="0"/>
          </a:p>
        </p:txBody>
      </p:sp>
      <p:sp>
        <p:nvSpPr>
          <p:cNvPr id="15" name="Text 13"/>
          <p:cNvSpPr/>
          <p:nvPr/>
        </p:nvSpPr>
        <p:spPr>
          <a:xfrm>
            <a:off x="4800600" y="1371600"/>
            <a:ext cx="3931920" cy="274320"/>
          </a:xfrm>
          <a:prstGeom prst="rect">
            <a:avLst/>
          </a:prstGeom>
          <a:noFill/>
          <a:ln/>
        </p:spPr>
        <p:txBody>
          <a:bodyPr wrap="square" rtlCol="0" anchor="ctr"/>
          <a:lstStyle/>
          <a:p>
            <a:pPr indent="0" marL="0">
              <a:buNone/>
            </a:pPr>
            <a:r>
              <a:rPr lang="en-US" sz="1000" i="1" dirty="0">
                <a:solidFill>
                  <a:srgbClr val="94A3B8"/>
                </a:solidFill>
              </a:rPr>
              <a:t>For Enterprise / Domain Architects</a:t>
            </a:r>
            <a:endParaRPr lang="en-US" sz="1000" dirty="0"/>
          </a:p>
        </p:txBody>
      </p:sp>
      <p:sp>
        <p:nvSpPr>
          <p:cNvPr id="16" name="Text 14"/>
          <p:cNvSpPr/>
          <p:nvPr/>
        </p:nvSpPr>
        <p:spPr>
          <a:xfrm>
            <a:off x="4846320" y="1783080"/>
            <a:ext cx="3749040" cy="585216"/>
          </a:xfrm>
          <a:prstGeom prst="rect">
            <a:avLst/>
          </a:prstGeom>
          <a:noFill/>
          <a:ln/>
        </p:spPr>
        <p:txBody>
          <a:bodyPr wrap="square" rtlCol="0" anchor="t"/>
          <a:lstStyle/>
          <a:p>
            <a:pPr indent="0" marL="0">
              <a:buNone/>
            </a:pPr>
            <a:r>
              <a:rPr lang="en-US" sz="1050" b="1" dirty="0">
                <a:solidFill>
                  <a:srgbClr val="58D68D"/>
                </a:solidFill>
              </a:rPr>
              <a:t>1. </a:t>
            </a:r>
            <a:pPr indent="0" marL="0">
              <a:buNone/>
            </a:pPr>
            <a:r>
              <a:rPr lang="en-US" sz="1050" dirty="0">
                <a:solidFill>
                  <a:srgbClr val="FFFFFF"/>
                </a:solidFill>
              </a:rPr>
              <a:t>In GitHub, assign an issue to Copilot: 'Add OpenTelemetry tracing to order service'</a:t>
            </a:r>
            <a:endParaRPr lang="en-US" sz="1050" dirty="0"/>
          </a:p>
        </p:txBody>
      </p:sp>
      <p:sp>
        <p:nvSpPr>
          <p:cNvPr id="17" name="Text 15"/>
          <p:cNvSpPr/>
          <p:nvPr/>
        </p:nvSpPr>
        <p:spPr>
          <a:xfrm>
            <a:off x="4846320" y="2441448"/>
            <a:ext cx="3749040" cy="585216"/>
          </a:xfrm>
          <a:prstGeom prst="rect">
            <a:avLst/>
          </a:prstGeom>
          <a:noFill/>
          <a:ln/>
        </p:spPr>
        <p:txBody>
          <a:bodyPr wrap="square" rtlCol="0" anchor="t"/>
          <a:lstStyle/>
          <a:p>
            <a:pPr indent="0" marL="0">
              <a:buNone/>
            </a:pPr>
            <a:r>
              <a:rPr lang="en-US" sz="1050" b="1" dirty="0">
                <a:solidFill>
                  <a:srgbClr val="58D68D"/>
                </a:solidFill>
              </a:rPr>
              <a:t>2. </a:t>
            </a:r>
            <a:pPr indent="0" marL="0">
              <a:buNone/>
            </a:pPr>
            <a:r>
              <a:rPr lang="en-US" sz="1050" dirty="0">
                <a:solidFill>
                  <a:srgbClr val="FFFFFF"/>
                </a:solidFill>
              </a:rPr>
              <a:t>Coding agent researches the repo, plans implementation, creates branch</a:t>
            </a:r>
            <a:endParaRPr lang="en-US" sz="1050" dirty="0"/>
          </a:p>
        </p:txBody>
      </p:sp>
      <p:sp>
        <p:nvSpPr>
          <p:cNvPr id="18" name="Text 16"/>
          <p:cNvSpPr/>
          <p:nvPr/>
        </p:nvSpPr>
        <p:spPr>
          <a:xfrm>
            <a:off x="4846320" y="3099816"/>
            <a:ext cx="3749040" cy="585216"/>
          </a:xfrm>
          <a:prstGeom prst="rect">
            <a:avLst/>
          </a:prstGeom>
          <a:noFill/>
          <a:ln/>
        </p:spPr>
        <p:txBody>
          <a:bodyPr wrap="square" rtlCol="0" anchor="t"/>
          <a:lstStyle/>
          <a:p>
            <a:pPr indent="0" marL="0">
              <a:buNone/>
            </a:pPr>
            <a:r>
              <a:rPr lang="en-US" sz="1050" b="1" dirty="0">
                <a:solidFill>
                  <a:srgbClr val="58D68D"/>
                </a:solidFill>
              </a:rPr>
              <a:t>3. </a:t>
            </a:r>
            <a:pPr indent="0" marL="0">
              <a:buNone/>
            </a:pPr>
            <a:r>
              <a:rPr lang="en-US" sz="1050" dirty="0">
                <a:solidFill>
                  <a:srgbClr val="FFFFFF"/>
                </a:solidFill>
              </a:rPr>
              <a:t>Agent self-reviews with Copilot Code Review before tagging you</a:t>
            </a:r>
            <a:endParaRPr lang="en-US" sz="1050" dirty="0"/>
          </a:p>
        </p:txBody>
      </p:sp>
      <p:sp>
        <p:nvSpPr>
          <p:cNvPr id="19" name="Text 17"/>
          <p:cNvSpPr/>
          <p:nvPr/>
        </p:nvSpPr>
        <p:spPr>
          <a:xfrm>
            <a:off x="4846320" y="3758184"/>
            <a:ext cx="3749040" cy="585216"/>
          </a:xfrm>
          <a:prstGeom prst="rect">
            <a:avLst/>
          </a:prstGeom>
          <a:noFill/>
          <a:ln/>
        </p:spPr>
        <p:txBody>
          <a:bodyPr wrap="square" rtlCol="0" anchor="t"/>
          <a:lstStyle/>
          <a:p>
            <a:pPr indent="0" marL="0">
              <a:buNone/>
            </a:pPr>
            <a:r>
              <a:rPr lang="en-US" sz="1050" b="1" dirty="0">
                <a:solidFill>
                  <a:srgbClr val="58D68D"/>
                </a:solidFill>
              </a:rPr>
              <a:t>4. </a:t>
            </a:r>
            <a:pPr indent="0" marL="0">
              <a:buNone/>
            </a:pPr>
            <a:r>
              <a:rPr lang="en-US" sz="1050" dirty="0">
                <a:solidFill>
                  <a:srgbClr val="FFFFFF"/>
                </a:solidFill>
              </a:rPr>
              <a:t>Review the PR — security scanning already passed, iterate via PR comments</a:t>
            </a:r>
            <a:endParaRPr lang="en-US" sz="1050" dirty="0"/>
          </a:p>
        </p:txBody>
      </p:sp>
      <p:sp>
        <p:nvSpPr>
          <p:cNvPr id="20" name="Shape 18"/>
          <p:cNvSpPr/>
          <p:nvPr/>
        </p:nvSpPr>
        <p:spPr>
          <a:xfrm>
            <a:off x="182880" y="4617720"/>
            <a:ext cx="8778240" cy="384048"/>
          </a:xfrm>
          <a:prstGeom prst="rect">
            <a:avLst/>
          </a:prstGeom>
          <a:solidFill>
            <a:srgbClr val="1F3552"/>
          </a:solidFill>
          <a:ln w="12700">
            <a:solidFill>
              <a:srgbClr val="00B4D8"/>
            </a:solidFill>
            <a:prstDash val="solid"/>
          </a:ln>
        </p:spPr>
      </p:sp>
      <p:sp>
        <p:nvSpPr>
          <p:cNvPr id="21" name="Text 19"/>
          <p:cNvSpPr/>
          <p:nvPr/>
        </p:nvSpPr>
        <p:spPr>
          <a:xfrm>
            <a:off x="320040" y="4617720"/>
            <a:ext cx="8503920" cy="384048"/>
          </a:xfrm>
          <a:prstGeom prst="rect">
            <a:avLst/>
          </a:prstGeom>
          <a:noFill/>
          <a:ln/>
        </p:spPr>
        <p:txBody>
          <a:bodyPr wrap="square" rtlCol="0" anchor="ctr"/>
          <a:lstStyle/>
          <a:p>
            <a:pPr indent="0" marL="0">
              <a:buNone/>
            </a:pPr>
            <a:r>
              <a:rPr lang="en-US" sz="1000" i="1" dirty="0">
                <a:solidFill>
                  <a:srgbClr val="00B4D8"/>
                </a:solidFill>
              </a:rPr>
              <a:t>2026 update: Copilot now supports multi-model (GPT, Claude, Gemini), MCP integration, and runs in VS Code, JetBrains, Eclipse, and Xcode.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4285F4"/>
          </a:solidFill>
          <a:ln w="12700">
            <a:solidFill>
              <a:srgbClr val="4285F4"/>
            </a:solidFill>
            <a:prstDash val="solid"/>
          </a:ln>
        </p:spPr>
      </p:sp>
      <p:sp>
        <p:nvSpPr>
          <p:cNvPr id="3" name="Text 1"/>
          <p:cNvSpPr/>
          <p:nvPr/>
        </p:nvSpPr>
        <p:spPr>
          <a:xfrm>
            <a:off x="365760" y="0"/>
            <a:ext cx="8412480" cy="777240"/>
          </a:xfrm>
          <a:prstGeom prst="rect">
            <a:avLst/>
          </a:prstGeom>
          <a:noFill/>
          <a:ln/>
        </p:spPr>
        <p:txBody>
          <a:bodyPr wrap="square" rtlCol="0" anchor="ctr"/>
          <a:lstStyle/>
          <a:p>
            <a:pPr indent="0" marL="0">
              <a:buNone/>
            </a:pPr>
            <a:r>
              <a:rPr lang="en-US" sz="1700" b="1" spc="100" kern="0" dirty="0">
                <a:solidFill>
                  <a:srgbClr val="FFFFFF"/>
                </a:solidFill>
              </a:rPr>
              <a:t>DEMO 3  ·  GEMINI + ANTIGRAVITY  ·  Agent-First Cloud Architect</a:t>
            </a:r>
            <a:endParaRPr lang="en-US" sz="1700" dirty="0"/>
          </a:p>
        </p:txBody>
      </p:sp>
      <p:sp>
        <p:nvSpPr>
          <p:cNvPr id="4" name="Shape 2"/>
          <p:cNvSpPr/>
          <p:nvPr/>
        </p:nvSpPr>
        <p:spPr>
          <a:xfrm>
            <a:off x="182880" y="914400"/>
            <a:ext cx="4114800" cy="4069080"/>
          </a:xfrm>
          <a:prstGeom prst="rect">
            <a:avLst/>
          </a:prstGeom>
          <a:solidFill>
            <a:srgbClr val="1A3060"/>
          </a:solidFill>
          <a:ln w="12700">
            <a:solidFill>
              <a:srgbClr val="4285F4">
                <a:alpha val="40000"/>
              </a:srgbClr>
            </a:solidFill>
            <a:prstDash val="solid"/>
          </a:ln>
        </p:spPr>
      </p:sp>
      <p:sp>
        <p:nvSpPr>
          <p:cNvPr id="5" name="Text 3"/>
          <p:cNvSpPr/>
          <p:nvPr/>
        </p:nvSpPr>
        <p:spPr>
          <a:xfrm>
            <a:off x="411480" y="1051560"/>
            <a:ext cx="3657600" cy="365760"/>
          </a:xfrm>
          <a:prstGeom prst="rect">
            <a:avLst/>
          </a:prstGeom>
          <a:noFill/>
          <a:ln/>
        </p:spPr>
        <p:txBody>
          <a:bodyPr wrap="square" rtlCol="0" anchor="ctr"/>
          <a:lstStyle/>
          <a:p>
            <a:pPr indent="0" marL="0">
              <a:buNone/>
            </a:pPr>
            <a:r>
              <a:rPr lang="en-US" sz="1400" b="1" dirty="0">
                <a:solidFill>
                  <a:srgbClr val="4285F4"/>
                </a:solidFill>
              </a:rPr>
              <a:t>What We'll Show</a:t>
            </a:r>
            <a:endParaRPr lang="en-US" sz="1400" dirty="0"/>
          </a:p>
        </p:txBody>
      </p:sp>
      <p:sp>
        <p:nvSpPr>
          <p:cNvPr id="6" name="Text 4"/>
          <p:cNvSpPr/>
          <p:nvPr/>
        </p:nvSpPr>
        <p:spPr>
          <a:xfrm>
            <a:off x="411480" y="1508760"/>
            <a:ext cx="3657600" cy="566928"/>
          </a:xfrm>
          <a:prstGeom prst="rect">
            <a:avLst/>
          </a:prstGeom>
          <a:noFill/>
          <a:ln/>
        </p:spPr>
        <p:txBody>
          <a:bodyPr wrap="square" rtlCol="0" anchor="t"/>
          <a:lstStyle/>
          <a:p>
            <a:pPr indent="0" marL="0">
              <a:buNone/>
            </a:pPr>
            <a:r>
              <a:rPr lang="en-US" sz="1050" b="1" dirty="0">
                <a:solidFill>
                  <a:srgbClr val="4285F4"/>
                </a:solidFill>
              </a:rPr>
              <a:t>1</a:t>
            </a:r>
            <a:pPr indent="0" marL="0">
              <a:buNone/>
            </a:pPr>
            <a:r>
              <a:rPr lang="en-US" sz="1050" dirty="0">
                <a:solidFill>
                  <a:srgbClr val="FFFFFF"/>
                </a:solidFill>
              </a:rPr>
              <a:t>  Upload a whiteboard/Visio architecture diagram to Gemini (browser or Antigravity IDE)</a:t>
            </a:r>
            <a:endParaRPr lang="en-US" sz="1050" dirty="0"/>
          </a:p>
        </p:txBody>
      </p:sp>
      <p:sp>
        <p:nvSpPr>
          <p:cNvPr id="7" name="Text 5"/>
          <p:cNvSpPr/>
          <p:nvPr/>
        </p:nvSpPr>
        <p:spPr>
          <a:xfrm>
            <a:off x="411480" y="2130552"/>
            <a:ext cx="3657600" cy="566928"/>
          </a:xfrm>
          <a:prstGeom prst="rect">
            <a:avLst/>
          </a:prstGeom>
          <a:noFill/>
          <a:ln/>
        </p:spPr>
        <p:txBody>
          <a:bodyPr wrap="square" rtlCol="0" anchor="t"/>
          <a:lstStyle/>
          <a:p>
            <a:pPr indent="0" marL="0">
              <a:buNone/>
            </a:pPr>
            <a:r>
              <a:rPr lang="en-US" sz="1050" b="1" dirty="0">
                <a:solidFill>
                  <a:srgbClr val="4285F4"/>
                </a:solidFill>
              </a:rPr>
              <a:t>2</a:t>
            </a:r>
            <a:pPr indent="0" marL="0">
              <a:buNone/>
            </a:pPr>
            <a:r>
              <a:rPr lang="en-US" sz="1050" dirty="0">
                <a:solidFill>
                  <a:srgbClr val="FFFFFF"/>
                </a:solidFill>
              </a:rPr>
              <a:t>  Ask: 'Identify components, integration patterns, and data flows from this diagram'</a:t>
            </a:r>
            <a:endParaRPr lang="en-US" sz="1050" dirty="0"/>
          </a:p>
        </p:txBody>
      </p:sp>
      <p:sp>
        <p:nvSpPr>
          <p:cNvPr id="8" name="Text 6"/>
          <p:cNvSpPr/>
          <p:nvPr/>
        </p:nvSpPr>
        <p:spPr>
          <a:xfrm>
            <a:off x="411480" y="2752344"/>
            <a:ext cx="3657600" cy="566928"/>
          </a:xfrm>
          <a:prstGeom prst="rect">
            <a:avLst/>
          </a:prstGeom>
          <a:noFill/>
          <a:ln/>
        </p:spPr>
        <p:txBody>
          <a:bodyPr wrap="square" rtlCol="0" anchor="t"/>
          <a:lstStyle/>
          <a:p>
            <a:pPr indent="0" marL="0">
              <a:buNone/>
            </a:pPr>
            <a:r>
              <a:rPr lang="en-US" sz="1050" b="1" dirty="0">
                <a:solidFill>
                  <a:srgbClr val="4285F4"/>
                </a:solidFill>
              </a:rPr>
              <a:t>3</a:t>
            </a:r>
            <a:pPr indent="0" marL="0">
              <a:buNone/>
            </a:pPr>
            <a:r>
              <a:rPr lang="en-US" sz="1050" dirty="0">
                <a:solidFill>
                  <a:srgbClr val="FFFFFF"/>
                </a:solidFill>
              </a:rPr>
              <a:t>  Follow-up: 'What concerns do you see? Generate a component spec.'</a:t>
            </a:r>
            <a:endParaRPr lang="en-US" sz="1050" dirty="0"/>
          </a:p>
        </p:txBody>
      </p:sp>
      <p:sp>
        <p:nvSpPr>
          <p:cNvPr id="9" name="Text 7"/>
          <p:cNvSpPr/>
          <p:nvPr/>
        </p:nvSpPr>
        <p:spPr>
          <a:xfrm>
            <a:off x="411480" y="3374136"/>
            <a:ext cx="3657600" cy="566928"/>
          </a:xfrm>
          <a:prstGeom prst="rect">
            <a:avLst/>
          </a:prstGeom>
          <a:noFill/>
          <a:ln/>
        </p:spPr>
        <p:txBody>
          <a:bodyPr wrap="square" rtlCol="0" anchor="t"/>
          <a:lstStyle/>
          <a:p>
            <a:pPr indent="0" marL="0">
              <a:buNone/>
            </a:pPr>
            <a:r>
              <a:rPr lang="en-US" sz="1050" b="1" dirty="0">
                <a:solidFill>
                  <a:srgbClr val="4285F4"/>
                </a:solidFill>
              </a:rPr>
              <a:t>4</a:t>
            </a:r>
            <a:pPr indent="0" marL="0">
              <a:buNone/>
            </a:pPr>
            <a:r>
              <a:rPr lang="en-US" sz="1050" dirty="0">
                <a:solidFill>
                  <a:srgbClr val="FFFFFF"/>
                </a:solidFill>
              </a:rPr>
              <a:t>  In Antigravity: spawn parallel agents — one maps to GCP services, another writes IaC</a:t>
            </a:r>
            <a:endParaRPr lang="en-US" sz="1050" dirty="0"/>
          </a:p>
        </p:txBody>
      </p:sp>
      <p:sp>
        <p:nvSpPr>
          <p:cNvPr id="10" name="Text 8"/>
          <p:cNvSpPr/>
          <p:nvPr/>
        </p:nvSpPr>
        <p:spPr>
          <a:xfrm>
            <a:off x="411480" y="3995928"/>
            <a:ext cx="3657600" cy="566928"/>
          </a:xfrm>
          <a:prstGeom prst="rect">
            <a:avLst/>
          </a:prstGeom>
          <a:noFill/>
          <a:ln/>
        </p:spPr>
        <p:txBody>
          <a:bodyPr wrap="square" rtlCol="0" anchor="t"/>
          <a:lstStyle/>
          <a:p>
            <a:pPr indent="0" marL="0">
              <a:buNone/>
            </a:pPr>
            <a:r>
              <a:rPr lang="en-US" sz="1050" b="1" dirty="0">
                <a:solidFill>
                  <a:srgbClr val="4285F4"/>
                </a:solidFill>
              </a:rPr>
              <a:t>5</a:t>
            </a:r>
            <a:pPr indent="0" marL="0">
              <a:buNone/>
            </a:pPr>
            <a:r>
              <a:rPr lang="en-US" sz="1050" dirty="0">
                <a:solidFill>
                  <a:srgbClr val="FFFFFF"/>
                </a:solidFill>
              </a:rPr>
              <a:t>  Bonus: Paste codebase alongside diagram — 1M+ tokens cross-references both</a:t>
            </a:r>
            <a:endParaRPr lang="en-US" sz="1050" dirty="0"/>
          </a:p>
        </p:txBody>
      </p:sp>
      <p:sp>
        <p:nvSpPr>
          <p:cNvPr id="11" name="Shape 9"/>
          <p:cNvSpPr/>
          <p:nvPr/>
        </p:nvSpPr>
        <p:spPr>
          <a:xfrm>
            <a:off x="4526280" y="914400"/>
            <a:ext cx="4434840" cy="4069080"/>
          </a:xfrm>
          <a:prstGeom prst="rect">
            <a:avLst/>
          </a:prstGeom>
          <a:solidFill>
            <a:srgbClr val="0A0F1E"/>
          </a:solidFill>
          <a:ln w="12700">
            <a:solidFill>
              <a:srgbClr val="334155"/>
            </a:solidFill>
            <a:prstDash val="solid"/>
          </a:ln>
        </p:spPr>
      </p:sp>
      <p:sp>
        <p:nvSpPr>
          <p:cNvPr id="12" name="Text 10"/>
          <p:cNvSpPr/>
          <p:nvPr/>
        </p:nvSpPr>
        <p:spPr>
          <a:xfrm>
            <a:off x="4663440" y="1051560"/>
            <a:ext cx="4114800" cy="457200"/>
          </a:xfrm>
          <a:prstGeom prst="rect">
            <a:avLst/>
          </a:prstGeom>
          <a:noFill/>
          <a:ln/>
        </p:spPr>
        <p:txBody>
          <a:bodyPr wrap="square" rtlCol="0" anchor="ctr"/>
          <a:lstStyle/>
          <a:p>
            <a:pPr indent="0" marL="0">
              <a:buNone/>
            </a:pPr>
            <a:r>
              <a:rPr lang="en-US" sz="1200" b="1" dirty="0">
                <a:solidFill>
                  <a:srgbClr val="4285F4"/>
                </a:solidFill>
              </a:rPr>
              <a:t>Antigravity + Gemini: Why This Changes Architecture</a:t>
            </a:r>
            <a:endParaRPr lang="en-US" sz="1200" dirty="0"/>
          </a:p>
        </p:txBody>
      </p:sp>
      <p:sp>
        <p:nvSpPr>
          <p:cNvPr id="13" name="Shape 11"/>
          <p:cNvSpPr/>
          <p:nvPr/>
        </p:nvSpPr>
        <p:spPr>
          <a:xfrm>
            <a:off x="4663440" y="1600200"/>
            <a:ext cx="4160520" cy="713232"/>
          </a:xfrm>
          <a:prstGeom prst="rect">
            <a:avLst/>
          </a:prstGeom>
          <a:solidFill>
            <a:srgbClr val="1A306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4800600" y="1627632"/>
            <a:ext cx="3840480" cy="621792"/>
          </a:xfrm>
          <a:prstGeom prst="rect">
            <a:avLst/>
          </a:prstGeom>
          <a:noFill/>
          <a:ln/>
        </p:spPr>
        <p:txBody>
          <a:bodyPr wrap="square" rtlCol="0" anchor="ctr"/>
          <a:lstStyle/>
          <a:p>
            <a:pPr indent="0" marL="0">
              <a:buNone/>
            </a:pPr>
            <a:r>
              <a:rPr lang="en-US" sz="1050" dirty="0">
                <a:solidFill>
                  <a:srgbClr val="FFFFFF"/>
                </a:solidFill>
              </a:rPr>
              <a:t>🚀  Antigravity: agent-first IDE (VS Code fork) with Manager View for up to 5 parallel agents</a:t>
            </a:r>
            <a:endParaRPr lang="en-US" sz="1050" dirty="0"/>
          </a:p>
        </p:txBody>
      </p:sp>
      <p:sp>
        <p:nvSpPr>
          <p:cNvPr id="15" name="Shape 13"/>
          <p:cNvSpPr/>
          <p:nvPr/>
        </p:nvSpPr>
        <p:spPr>
          <a:xfrm>
            <a:off x="4663440" y="2423160"/>
            <a:ext cx="4160520" cy="713232"/>
          </a:xfrm>
          <a:prstGeom prst="rect">
            <a:avLst/>
          </a:prstGeom>
          <a:solidFill>
            <a:srgbClr val="1A306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800600" y="2450592"/>
            <a:ext cx="3840480" cy="621792"/>
          </a:xfrm>
          <a:prstGeom prst="rect">
            <a:avLst/>
          </a:prstGeom>
          <a:noFill/>
          <a:ln/>
        </p:spPr>
        <p:txBody>
          <a:bodyPr wrap="square" rtlCol="0" anchor="ctr"/>
          <a:lstStyle/>
          <a:p>
            <a:pPr indent="0" marL="0">
              <a:buNone/>
            </a:pPr>
            <a:r>
              <a:rPr lang="en-US" sz="1050" dirty="0">
                <a:solidFill>
                  <a:srgbClr val="FFFFFF"/>
                </a:solidFill>
              </a:rPr>
              <a:t>🖼️  Built-in Chrome browser: agents verify UI changes visually — no context-switch</a:t>
            </a:r>
            <a:endParaRPr lang="en-US" sz="1050" dirty="0"/>
          </a:p>
        </p:txBody>
      </p:sp>
      <p:sp>
        <p:nvSpPr>
          <p:cNvPr id="17" name="Shape 15"/>
          <p:cNvSpPr/>
          <p:nvPr/>
        </p:nvSpPr>
        <p:spPr>
          <a:xfrm>
            <a:off x="4663440" y="3246120"/>
            <a:ext cx="4160520" cy="713232"/>
          </a:xfrm>
          <a:prstGeom prst="rect">
            <a:avLst/>
          </a:prstGeom>
          <a:solidFill>
            <a:srgbClr val="1A306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800600" y="3273552"/>
            <a:ext cx="3840480" cy="621792"/>
          </a:xfrm>
          <a:prstGeom prst="rect">
            <a:avLst/>
          </a:prstGeom>
          <a:noFill/>
          <a:ln/>
        </p:spPr>
        <p:txBody>
          <a:bodyPr wrap="square" rtlCol="0" anchor="ctr"/>
          <a:lstStyle/>
          <a:p>
            <a:pPr indent="0" marL="0">
              <a:buNone/>
            </a:pPr>
            <a:r>
              <a:rPr lang="en-US" sz="1050" dirty="0">
                <a:solidFill>
                  <a:srgbClr val="FFFFFF"/>
                </a:solidFill>
              </a:rPr>
              <a:t>📋  1M+ tokens: analyse entire repos + diagrams + docs in a single session</a:t>
            </a:r>
            <a:endParaRPr lang="en-US" sz="1050" dirty="0"/>
          </a:p>
        </p:txBody>
      </p:sp>
      <p:sp>
        <p:nvSpPr>
          <p:cNvPr id="19" name="Shape 17"/>
          <p:cNvSpPr/>
          <p:nvPr/>
        </p:nvSpPr>
        <p:spPr>
          <a:xfrm>
            <a:off x="4663440" y="4069080"/>
            <a:ext cx="4160520" cy="713232"/>
          </a:xfrm>
          <a:prstGeom prst="rect">
            <a:avLst/>
          </a:prstGeom>
          <a:solidFill>
            <a:srgbClr val="1A3060"/>
          </a:solidFill>
          <a:ln w="12700">
            <a:solidFill>
              <a:srgbClr val="1E3A5F"/>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4800600" y="4096512"/>
            <a:ext cx="3840480" cy="621792"/>
          </a:xfrm>
          <a:prstGeom prst="rect">
            <a:avLst/>
          </a:prstGeom>
          <a:noFill/>
          <a:ln/>
        </p:spPr>
        <p:txBody>
          <a:bodyPr wrap="square" rtlCol="0" anchor="ctr"/>
          <a:lstStyle/>
          <a:p>
            <a:pPr indent="0" marL="0">
              <a:buNone/>
            </a:pPr>
            <a:r>
              <a:rPr lang="en-US" sz="1050" dirty="0">
                <a:solidFill>
                  <a:srgbClr val="FFFFFF"/>
                </a:solidFill>
              </a:rPr>
              <a:t>☁️  Native GCP integration — deploy, diagnose K8s, review Cloud Console from the IDE</a:t>
            </a:r>
            <a:endParaRPr lang="en-US" sz="1050" dirty="0"/>
          </a:p>
        </p:txBody>
      </p:sp>
      <p:sp>
        <p:nvSpPr>
          <p:cNvPr id="21" name="Text 19"/>
          <p:cNvSpPr/>
          <p:nvPr/>
        </p:nvSpPr>
        <p:spPr>
          <a:xfrm>
            <a:off x="4526280" y="4663440"/>
            <a:ext cx="4434840" cy="320040"/>
          </a:xfrm>
          <a:prstGeom prst="rect">
            <a:avLst/>
          </a:prstGeom>
          <a:noFill/>
          <a:ln/>
        </p:spPr>
        <p:txBody>
          <a:bodyPr wrap="square" rtlCol="0" anchor="ctr"/>
          <a:lstStyle/>
          <a:p>
            <a:pPr algn="ctr" indent="0" marL="0">
              <a:buNone/>
            </a:pPr>
            <a:r>
              <a:rPr lang="en-US" sz="800" i="1" dirty="0">
                <a:solidFill>
                  <a:srgbClr val="94A3B8"/>
                </a:solidFill>
              </a:rPr>
              <a:t>Antigravity: free public preview. VS Code fork — your extensions carry over. Powered by Gemini 3.1 Pro + supports Claude Sonnet/Opus.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F3D"/>
          </a:solidFill>
          <a:ln w="12700">
            <a:solidFill>
              <a:srgbClr val="0F1F3D"/>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100" b="1" dirty="0">
                <a:solidFill>
                  <a:srgbClr val="FFFFFF"/>
                </a:solidFill>
              </a:rPr>
              <a:t>Elevated Use Cases: Docs, Security &amp; TOGAF</a:t>
            </a:r>
            <a:endParaRPr lang="en-US" sz="2100" dirty="0"/>
          </a:p>
        </p:txBody>
      </p:sp>
      <p:sp>
        <p:nvSpPr>
          <p:cNvPr id="4" name="Shape 2"/>
          <p:cNvSpPr/>
          <p:nvPr/>
        </p:nvSpPr>
        <p:spPr>
          <a:xfrm>
            <a:off x="182880" y="960120"/>
            <a:ext cx="4297680" cy="17830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182880" y="960120"/>
            <a:ext cx="73152" cy="1783080"/>
          </a:xfrm>
          <a:prstGeom prst="rect">
            <a:avLst/>
          </a:prstGeom>
          <a:solidFill>
            <a:srgbClr val="D97706"/>
          </a:solidFill>
          <a:ln w="12700">
            <a:solidFill>
              <a:srgbClr val="D97706"/>
            </a:solidFill>
            <a:prstDash val="solid"/>
          </a:ln>
        </p:spPr>
      </p:sp>
      <p:pic>
        <p:nvPicPr>
          <p:cNvPr id="6" name="Image 0" descr="preencoded.png">    </p:cNvPr>
          <p:cNvPicPr>
            <a:picLocks noChangeAspect="1"/>
          </p:cNvPicPr>
          <p:nvPr/>
        </p:nvPicPr>
        <p:blipFill>
          <a:blip r:embed="rId1"/>
          <a:stretch>
            <a:fillRect/>
          </a:stretch>
        </p:blipFill>
        <p:spPr>
          <a:xfrm>
            <a:off x="347472" y="1097280"/>
            <a:ext cx="384048" cy="384048"/>
          </a:xfrm>
          <a:prstGeom prst="rect">
            <a:avLst/>
          </a:prstGeom>
        </p:spPr>
      </p:pic>
      <p:sp>
        <p:nvSpPr>
          <p:cNvPr id="7" name="Text 4"/>
          <p:cNvSpPr/>
          <p:nvPr/>
        </p:nvSpPr>
        <p:spPr>
          <a:xfrm>
            <a:off x="841248" y="1051560"/>
            <a:ext cx="3246120" cy="365760"/>
          </a:xfrm>
          <a:prstGeom prst="rect">
            <a:avLst/>
          </a:prstGeom>
          <a:noFill/>
          <a:ln/>
        </p:spPr>
        <p:txBody>
          <a:bodyPr wrap="square" rtlCol="0" anchor="ctr"/>
          <a:lstStyle/>
          <a:p>
            <a:pPr indent="0" marL="0">
              <a:buNone/>
            </a:pPr>
            <a:r>
              <a:rPr lang="en-US" sz="1200" b="1" dirty="0">
                <a:solidFill>
                  <a:srgbClr val="0F1F3D"/>
                </a:solidFill>
              </a:rPr>
              <a:t>Architecture Decision Records</a:t>
            </a:r>
            <a:endParaRPr lang="en-US" sz="1200" dirty="0"/>
          </a:p>
        </p:txBody>
      </p:sp>
      <p:sp>
        <p:nvSpPr>
          <p:cNvPr id="8" name="Shape 5"/>
          <p:cNvSpPr/>
          <p:nvPr/>
        </p:nvSpPr>
        <p:spPr>
          <a:xfrm>
            <a:off x="841248" y="1417320"/>
            <a:ext cx="1188720" cy="201168"/>
          </a:xfrm>
          <a:prstGeom prst="rect">
            <a:avLst/>
          </a:prstGeom>
          <a:solidFill>
            <a:srgbClr val="D97706">
              <a:alpha val="25000"/>
            </a:srgbClr>
          </a:solidFill>
          <a:ln w="12700">
            <a:solidFill>
              <a:srgbClr val="D97706"/>
            </a:solidFill>
            <a:prstDash val="solid"/>
          </a:ln>
        </p:spPr>
      </p:sp>
      <p:sp>
        <p:nvSpPr>
          <p:cNvPr id="9" name="Text 6"/>
          <p:cNvSpPr/>
          <p:nvPr/>
        </p:nvSpPr>
        <p:spPr>
          <a:xfrm>
            <a:off x="841248" y="1417320"/>
            <a:ext cx="1188720" cy="201168"/>
          </a:xfrm>
          <a:prstGeom prst="rect">
            <a:avLst/>
          </a:prstGeom>
          <a:noFill/>
          <a:ln/>
        </p:spPr>
        <p:txBody>
          <a:bodyPr wrap="square" lIns="0" tIns="0" rIns="0" bIns="0" rtlCol="0" anchor="ctr"/>
          <a:lstStyle/>
          <a:p>
            <a:pPr algn="ctr" indent="0" marL="0">
              <a:buNone/>
            </a:pPr>
            <a:r>
              <a:rPr lang="en-US" sz="800" b="1" dirty="0">
                <a:solidFill>
                  <a:srgbClr val="D97706"/>
                </a:solidFill>
              </a:rPr>
              <a:t>Claude (★★★)</a:t>
            </a:r>
            <a:endParaRPr lang="en-US" sz="800" dirty="0"/>
          </a:p>
        </p:txBody>
      </p:sp>
      <p:sp>
        <p:nvSpPr>
          <p:cNvPr id="10" name="Text 7"/>
          <p:cNvSpPr/>
          <p:nvPr/>
        </p:nvSpPr>
        <p:spPr>
          <a:xfrm>
            <a:off x="347472" y="1709928"/>
            <a:ext cx="3977640" cy="914400"/>
          </a:xfrm>
          <a:prstGeom prst="rect">
            <a:avLst/>
          </a:prstGeom>
          <a:noFill/>
          <a:ln/>
        </p:spPr>
        <p:txBody>
          <a:bodyPr wrap="square" rtlCol="0" anchor="t"/>
          <a:lstStyle/>
          <a:p>
            <a:pPr indent="0" marL="0">
              <a:buNone/>
            </a:pPr>
            <a:r>
              <a:rPr lang="en-US" sz="1000" dirty="0">
                <a:solidFill>
                  <a:srgbClr val="475569"/>
                </a:solidFill>
              </a:rPr>
              <a:t>Describe the problem, constraints, and options. Claude outputs a MADR/RFC-format ADR with context, options, pros/cons, and rationale. Use Projects to maintain architectural context across multiple ADRs.</a:t>
            </a:r>
            <a:endParaRPr lang="en-US" sz="1000" dirty="0"/>
          </a:p>
        </p:txBody>
      </p:sp>
      <p:sp>
        <p:nvSpPr>
          <p:cNvPr id="11" name="Shape 8"/>
          <p:cNvSpPr/>
          <p:nvPr/>
        </p:nvSpPr>
        <p:spPr>
          <a:xfrm>
            <a:off x="4663440" y="960120"/>
            <a:ext cx="4297680" cy="17830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4663440" y="960120"/>
            <a:ext cx="73152" cy="1783080"/>
          </a:xfrm>
          <a:prstGeom prst="rect">
            <a:avLst/>
          </a:prstGeom>
          <a:solidFill>
            <a:srgbClr val="1F883D"/>
          </a:solidFill>
          <a:ln w="12700">
            <a:solidFill>
              <a:srgbClr val="1F883D"/>
            </a:solidFill>
            <a:prstDash val="solid"/>
          </a:ln>
        </p:spPr>
      </p:sp>
      <p:pic>
        <p:nvPicPr>
          <p:cNvPr id="13" name="Image 1" descr="preencoded.png">    </p:cNvPr>
          <p:cNvPicPr>
            <a:picLocks noChangeAspect="1"/>
          </p:cNvPicPr>
          <p:nvPr/>
        </p:nvPicPr>
        <p:blipFill>
          <a:blip r:embed="rId2"/>
          <a:stretch>
            <a:fillRect/>
          </a:stretch>
        </p:blipFill>
        <p:spPr>
          <a:xfrm>
            <a:off x="4828032" y="1097280"/>
            <a:ext cx="384048" cy="384048"/>
          </a:xfrm>
          <a:prstGeom prst="rect">
            <a:avLst/>
          </a:prstGeom>
        </p:spPr>
      </p:pic>
      <p:sp>
        <p:nvSpPr>
          <p:cNvPr id="14" name="Text 10"/>
          <p:cNvSpPr/>
          <p:nvPr/>
        </p:nvSpPr>
        <p:spPr>
          <a:xfrm>
            <a:off x="5321808" y="1051560"/>
            <a:ext cx="3246120" cy="365760"/>
          </a:xfrm>
          <a:prstGeom prst="rect">
            <a:avLst/>
          </a:prstGeom>
          <a:noFill/>
          <a:ln/>
        </p:spPr>
        <p:txBody>
          <a:bodyPr wrap="square" rtlCol="0" anchor="ctr"/>
          <a:lstStyle/>
          <a:p>
            <a:pPr indent="0" marL="0">
              <a:buNone/>
            </a:pPr>
            <a:r>
              <a:rPr lang="en-US" sz="1200" b="1" dirty="0">
                <a:solidFill>
                  <a:srgbClr val="0F1F3D"/>
                </a:solidFill>
              </a:rPr>
              <a:t>Security: Scanning + Threat Modelling</a:t>
            </a:r>
            <a:endParaRPr lang="en-US" sz="1200" dirty="0"/>
          </a:p>
        </p:txBody>
      </p:sp>
      <p:sp>
        <p:nvSpPr>
          <p:cNvPr id="15" name="Shape 11"/>
          <p:cNvSpPr/>
          <p:nvPr/>
        </p:nvSpPr>
        <p:spPr>
          <a:xfrm>
            <a:off x="5321808" y="1417320"/>
            <a:ext cx="1188720" cy="201168"/>
          </a:xfrm>
          <a:prstGeom prst="rect">
            <a:avLst/>
          </a:prstGeom>
          <a:solidFill>
            <a:srgbClr val="1F883D">
              <a:alpha val="25000"/>
            </a:srgbClr>
          </a:solidFill>
          <a:ln w="12700">
            <a:solidFill>
              <a:srgbClr val="1F883D"/>
            </a:solidFill>
            <a:prstDash val="solid"/>
          </a:ln>
        </p:spPr>
      </p:sp>
      <p:sp>
        <p:nvSpPr>
          <p:cNvPr id="16" name="Text 12"/>
          <p:cNvSpPr/>
          <p:nvPr/>
        </p:nvSpPr>
        <p:spPr>
          <a:xfrm>
            <a:off x="5321808" y="1417320"/>
            <a:ext cx="1188720" cy="201168"/>
          </a:xfrm>
          <a:prstGeom prst="rect">
            <a:avLst/>
          </a:prstGeom>
          <a:noFill/>
          <a:ln/>
        </p:spPr>
        <p:txBody>
          <a:bodyPr wrap="square" lIns="0" tIns="0" rIns="0" bIns="0" rtlCol="0" anchor="ctr"/>
          <a:lstStyle/>
          <a:p>
            <a:pPr algn="ctr" indent="0" marL="0">
              <a:buNone/>
            </a:pPr>
            <a:r>
              <a:rPr lang="en-US" sz="800" b="1" dirty="0">
                <a:solidFill>
                  <a:srgbClr val="1F883D"/>
                </a:solidFill>
              </a:rPr>
              <a:t>Copilot + Claude</a:t>
            </a:r>
            <a:endParaRPr lang="en-US" sz="800" dirty="0"/>
          </a:p>
        </p:txBody>
      </p:sp>
      <p:sp>
        <p:nvSpPr>
          <p:cNvPr id="17" name="Text 13"/>
          <p:cNvSpPr/>
          <p:nvPr/>
        </p:nvSpPr>
        <p:spPr>
          <a:xfrm>
            <a:off x="4828032" y="1709928"/>
            <a:ext cx="3977640" cy="914400"/>
          </a:xfrm>
          <a:prstGeom prst="rect">
            <a:avLst/>
          </a:prstGeom>
          <a:noFill/>
          <a:ln/>
        </p:spPr>
        <p:txBody>
          <a:bodyPr wrap="square" rtlCol="0" anchor="t"/>
          <a:lstStyle/>
          <a:p>
            <a:pPr indent="0" marL="0">
              <a:buNone/>
            </a:pPr>
            <a:r>
              <a:rPr lang="en-US" sz="1000" dirty="0">
                <a:solidFill>
                  <a:srgbClr val="475569"/>
                </a:solidFill>
              </a:rPr>
              <a:t>Copilot's agent now auto-runs code scanning, secret detection, and dependency checks. Claude generates STRIDE threat models from architecture descriptions. Gemini reviews PRs for policy violations.</a:t>
            </a:r>
            <a:endParaRPr lang="en-US" sz="1000" dirty="0"/>
          </a:p>
        </p:txBody>
      </p:sp>
      <p:sp>
        <p:nvSpPr>
          <p:cNvPr id="18" name="Shape 14"/>
          <p:cNvSpPr/>
          <p:nvPr/>
        </p:nvSpPr>
        <p:spPr>
          <a:xfrm>
            <a:off x="182880" y="2926080"/>
            <a:ext cx="4297680" cy="17830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9" name="Shape 15"/>
          <p:cNvSpPr/>
          <p:nvPr/>
        </p:nvSpPr>
        <p:spPr>
          <a:xfrm>
            <a:off x="182880" y="2926080"/>
            <a:ext cx="73152" cy="1783080"/>
          </a:xfrm>
          <a:prstGeom prst="rect">
            <a:avLst/>
          </a:prstGeom>
          <a:solidFill>
            <a:srgbClr val="D97706"/>
          </a:solidFill>
          <a:ln w="12700">
            <a:solidFill>
              <a:srgbClr val="D97706"/>
            </a:solidFill>
            <a:prstDash val="solid"/>
          </a:ln>
        </p:spPr>
      </p:sp>
      <p:pic>
        <p:nvPicPr>
          <p:cNvPr id="20" name="Image 2" descr="preencoded.png">    </p:cNvPr>
          <p:cNvPicPr>
            <a:picLocks noChangeAspect="1"/>
          </p:cNvPicPr>
          <p:nvPr/>
        </p:nvPicPr>
        <p:blipFill>
          <a:blip r:embed="rId3"/>
          <a:stretch>
            <a:fillRect/>
          </a:stretch>
        </p:blipFill>
        <p:spPr>
          <a:xfrm>
            <a:off x="347472" y="3063240"/>
            <a:ext cx="384048" cy="384048"/>
          </a:xfrm>
          <a:prstGeom prst="rect">
            <a:avLst/>
          </a:prstGeom>
        </p:spPr>
      </p:pic>
      <p:sp>
        <p:nvSpPr>
          <p:cNvPr id="21" name="Text 16"/>
          <p:cNvSpPr/>
          <p:nvPr/>
        </p:nvSpPr>
        <p:spPr>
          <a:xfrm>
            <a:off x="841248" y="3017520"/>
            <a:ext cx="3246120" cy="365760"/>
          </a:xfrm>
          <a:prstGeom prst="rect">
            <a:avLst/>
          </a:prstGeom>
          <a:noFill/>
          <a:ln/>
        </p:spPr>
        <p:txBody>
          <a:bodyPr wrap="square" rtlCol="0" anchor="ctr"/>
          <a:lstStyle/>
          <a:p>
            <a:pPr indent="0" marL="0">
              <a:buNone/>
            </a:pPr>
            <a:r>
              <a:rPr lang="en-US" sz="1200" b="1" dirty="0">
                <a:solidFill>
                  <a:srgbClr val="0F1F3D"/>
                </a:solidFill>
              </a:rPr>
              <a:t>TOGAF Business/Data/App/Tech Layers</a:t>
            </a:r>
            <a:endParaRPr lang="en-US" sz="1200" dirty="0"/>
          </a:p>
        </p:txBody>
      </p:sp>
      <p:sp>
        <p:nvSpPr>
          <p:cNvPr id="22" name="Shape 17"/>
          <p:cNvSpPr/>
          <p:nvPr/>
        </p:nvSpPr>
        <p:spPr>
          <a:xfrm>
            <a:off x="841248" y="3383280"/>
            <a:ext cx="1188720" cy="201168"/>
          </a:xfrm>
          <a:prstGeom prst="rect">
            <a:avLst/>
          </a:prstGeom>
          <a:solidFill>
            <a:srgbClr val="D97706">
              <a:alpha val="25000"/>
            </a:srgbClr>
          </a:solidFill>
          <a:ln w="12700">
            <a:solidFill>
              <a:srgbClr val="D97706"/>
            </a:solidFill>
            <a:prstDash val="solid"/>
          </a:ln>
        </p:spPr>
      </p:sp>
      <p:sp>
        <p:nvSpPr>
          <p:cNvPr id="23" name="Text 18"/>
          <p:cNvSpPr/>
          <p:nvPr/>
        </p:nvSpPr>
        <p:spPr>
          <a:xfrm>
            <a:off x="841248" y="3383280"/>
            <a:ext cx="1188720" cy="201168"/>
          </a:xfrm>
          <a:prstGeom prst="rect">
            <a:avLst/>
          </a:prstGeom>
          <a:noFill/>
          <a:ln/>
        </p:spPr>
        <p:txBody>
          <a:bodyPr wrap="square" lIns="0" tIns="0" rIns="0" bIns="0" rtlCol="0" anchor="ctr"/>
          <a:lstStyle/>
          <a:p>
            <a:pPr algn="ctr" indent="0" marL="0">
              <a:buNone/>
            </a:pPr>
            <a:r>
              <a:rPr lang="en-US" sz="800" b="1" dirty="0">
                <a:solidFill>
                  <a:srgbClr val="D97706"/>
                </a:solidFill>
              </a:rPr>
              <a:t>Claude + Gemini</a:t>
            </a:r>
            <a:endParaRPr lang="en-US" sz="800" dirty="0"/>
          </a:p>
        </p:txBody>
      </p:sp>
      <p:sp>
        <p:nvSpPr>
          <p:cNvPr id="24" name="Text 19"/>
          <p:cNvSpPr/>
          <p:nvPr/>
        </p:nvSpPr>
        <p:spPr>
          <a:xfrm>
            <a:off x="347472" y="3675888"/>
            <a:ext cx="3977640" cy="914400"/>
          </a:xfrm>
          <a:prstGeom prst="rect">
            <a:avLst/>
          </a:prstGeom>
          <a:noFill/>
          <a:ln/>
        </p:spPr>
        <p:txBody>
          <a:bodyPr wrap="square" rtlCol="0" anchor="t"/>
          <a:lstStyle/>
          <a:p>
            <a:pPr indent="0" marL="0">
              <a:buNone/>
            </a:pPr>
            <a:r>
              <a:rPr lang="en-US" sz="1000" dirty="0">
                <a:solidFill>
                  <a:srgbClr val="475569"/>
                </a:solidFill>
              </a:rPr>
              <a:t>Claude reasons about ArchiMate-aligned artefacts across all four TOGAF layers with mapping tables. Gemini adds value by processing existing architecture diagrams as visual input alongside requirements.</a:t>
            </a:r>
            <a:endParaRPr lang="en-US" sz="1000" dirty="0"/>
          </a:p>
        </p:txBody>
      </p:sp>
      <p:sp>
        <p:nvSpPr>
          <p:cNvPr id="25" name="Shape 20"/>
          <p:cNvSpPr/>
          <p:nvPr/>
        </p:nvSpPr>
        <p:spPr>
          <a:xfrm>
            <a:off x="4663440" y="2926080"/>
            <a:ext cx="4297680" cy="17830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6" name="Shape 21"/>
          <p:cNvSpPr/>
          <p:nvPr/>
        </p:nvSpPr>
        <p:spPr>
          <a:xfrm>
            <a:off x="4663440" y="2926080"/>
            <a:ext cx="73152" cy="1783080"/>
          </a:xfrm>
          <a:prstGeom prst="rect">
            <a:avLst/>
          </a:prstGeom>
          <a:solidFill>
            <a:srgbClr val="00B4D8"/>
          </a:solidFill>
          <a:ln w="12700">
            <a:solidFill>
              <a:srgbClr val="00B4D8"/>
            </a:solidFill>
            <a:prstDash val="solid"/>
          </a:ln>
        </p:spPr>
      </p:sp>
      <p:pic>
        <p:nvPicPr>
          <p:cNvPr id="27" name="Image 3" descr="preencoded.png">    </p:cNvPr>
          <p:cNvPicPr>
            <a:picLocks noChangeAspect="1"/>
          </p:cNvPicPr>
          <p:nvPr/>
        </p:nvPicPr>
        <p:blipFill>
          <a:blip r:embed="rId4"/>
          <a:stretch>
            <a:fillRect/>
          </a:stretch>
        </p:blipFill>
        <p:spPr>
          <a:xfrm>
            <a:off x="4828032" y="3063240"/>
            <a:ext cx="384048" cy="384048"/>
          </a:xfrm>
          <a:prstGeom prst="rect">
            <a:avLst/>
          </a:prstGeom>
        </p:spPr>
      </p:pic>
      <p:sp>
        <p:nvSpPr>
          <p:cNvPr id="28" name="Text 22"/>
          <p:cNvSpPr/>
          <p:nvPr/>
        </p:nvSpPr>
        <p:spPr>
          <a:xfrm>
            <a:off x="5321808" y="3017520"/>
            <a:ext cx="3246120" cy="365760"/>
          </a:xfrm>
          <a:prstGeom prst="rect">
            <a:avLst/>
          </a:prstGeom>
          <a:noFill/>
          <a:ln/>
        </p:spPr>
        <p:txBody>
          <a:bodyPr wrap="square" rtlCol="0" anchor="ctr"/>
          <a:lstStyle/>
          <a:p>
            <a:pPr indent="0" marL="0">
              <a:buNone/>
            </a:pPr>
            <a:r>
              <a:rPr lang="en-US" sz="1200" b="1" dirty="0">
                <a:solidFill>
                  <a:srgbClr val="0F1F3D"/>
                </a:solidFill>
              </a:rPr>
              <a:t>POC/SPIKE/MVP Rapid Build</a:t>
            </a:r>
            <a:endParaRPr lang="en-US" sz="1200" dirty="0"/>
          </a:p>
        </p:txBody>
      </p:sp>
      <p:sp>
        <p:nvSpPr>
          <p:cNvPr id="29" name="Shape 23"/>
          <p:cNvSpPr/>
          <p:nvPr/>
        </p:nvSpPr>
        <p:spPr>
          <a:xfrm>
            <a:off x="5321808" y="3383280"/>
            <a:ext cx="1188720" cy="201168"/>
          </a:xfrm>
          <a:prstGeom prst="rect">
            <a:avLst/>
          </a:prstGeom>
          <a:solidFill>
            <a:srgbClr val="00B4D8">
              <a:alpha val="25000"/>
            </a:srgbClr>
          </a:solidFill>
          <a:ln w="12700">
            <a:solidFill>
              <a:srgbClr val="00B4D8"/>
            </a:solidFill>
            <a:prstDash val="solid"/>
          </a:ln>
        </p:spPr>
      </p:sp>
      <p:sp>
        <p:nvSpPr>
          <p:cNvPr id="30" name="Text 24"/>
          <p:cNvSpPr/>
          <p:nvPr/>
        </p:nvSpPr>
        <p:spPr>
          <a:xfrm>
            <a:off x="5321808" y="3383280"/>
            <a:ext cx="1188720" cy="201168"/>
          </a:xfrm>
          <a:prstGeom prst="rect">
            <a:avLst/>
          </a:prstGeom>
          <a:noFill/>
          <a:ln/>
        </p:spPr>
        <p:txBody>
          <a:bodyPr wrap="square" lIns="0" tIns="0" rIns="0" bIns="0" rtlCol="0" anchor="ctr"/>
          <a:lstStyle/>
          <a:p>
            <a:pPr algn="ctr" indent="0" marL="0">
              <a:buNone/>
            </a:pPr>
            <a:r>
              <a:rPr lang="en-US" sz="800" b="1" dirty="0">
                <a:solidFill>
                  <a:srgbClr val="00B4D8"/>
                </a:solidFill>
              </a:rPr>
              <a:t>All three (★★★)</a:t>
            </a:r>
            <a:endParaRPr lang="en-US" sz="800" dirty="0"/>
          </a:p>
        </p:txBody>
      </p:sp>
      <p:sp>
        <p:nvSpPr>
          <p:cNvPr id="31" name="Text 25"/>
          <p:cNvSpPr/>
          <p:nvPr/>
        </p:nvSpPr>
        <p:spPr>
          <a:xfrm>
            <a:off x="4828032" y="3675888"/>
            <a:ext cx="3977640" cy="914400"/>
          </a:xfrm>
          <a:prstGeom prst="rect">
            <a:avLst/>
          </a:prstGeom>
          <a:noFill/>
          <a:ln/>
        </p:spPr>
        <p:txBody>
          <a:bodyPr wrap="square" rtlCol="0" anchor="t"/>
          <a:lstStyle/>
          <a:p>
            <a:pPr indent="0" marL="0">
              <a:buNone/>
            </a:pPr>
            <a:r>
              <a:rPr lang="en-US" sz="1000" dirty="0">
                <a:solidFill>
                  <a:srgbClr val="475569"/>
                </a:solidFill>
              </a:rPr>
              <a:t>Copilot's coding agent builds features from issues. Claude Code scaffolds and tests full projects in your terminal. Gemini's agent mode builds inside the IDE. Assign the boring parts to AI, focus on design.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7B6"/>
          </a:solidFill>
          <a:ln w="12700">
            <a:solidFill>
              <a:srgbClr val="0077B6"/>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000" b="1" dirty="0">
                <a:solidFill>
                  <a:srgbClr val="FFFFFF"/>
                </a:solidFill>
              </a:rPr>
              <a:t>The AI-Augmented Architecture Workflow (2026)</a:t>
            </a:r>
            <a:endParaRPr lang="en-US" sz="2000" dirty="0"/>
          </a:p>
        </p:txBody>
      </p:sp>
      <p:sp>
        <p:nvSpPr>
          <p:cNvPr id="4" name="Shape 2"/>
          <p:cNvSpPr/>
          <p:nvPr/>
        </p:nvSpPr>
        <p:spPr>
          <a:xfrm>
            <a:off x="274320" y="1005840"/>
            <a:ext cx="1920240" cy="2834640"/>
          </a:xfrm>
          <a:prstGeom prst="rect">
            <a:avLst/>
          </a:prstGeom>
          <a:solidFill>
            <a:srgbClr val="1A3060"/>
          </a:solidFill>
          <a:ln w="12700">
            <a:solidFill>
              <a:srgbClr val="D97706"/>
            </a:solidFill>
            <a:prstDash val="solid"/>
          </a:ln>
        </p:spPr>
      </p:sp>
      <p:sp>
        <p:nvSpPr>
          <p:cNvPr id="5" name="Shape 3"/>
          <p:cNvSpPr/>
          <p:nvPr/>
        </p:nvSpPr>
        <p:spPr>
          <a:xfrm>
            <a:off x="274320" y="1005840"/>
            <a:ext cx="1920240" cy="73152"/>
          </a:xfrm>
          <a:prstGeom prst="rect">
            <a:avLst/>
          </a:prstGeom>
          <a:solidFill>
            <a:srgbClr val="D97706"/>
          </a:solidFill>
          <a:ln w="12700">
            <a:solidFill>
              <a:srgbClr val="D97706"/>
            </a:solidFill>
            <a:prstDash val="solid"/>
          </a:ln>
        </p:spPr>
      </p:sp>
      <p:sp>
        <p:nvSpPr>
          <p:cNvPr id="6" name="Shape 4"/>
          <p:cNvSpPr/>
          <p:nvPr/>
        </p:nvSpPr>
        <p:spPr>
          <a:xfrm>
            <a:off x="960120" y="1097280"/>
            <a:ext cx="548640" cy="548640"/>
          </a:xfrm>
          <a:prstGeom prst="ellipse">
            <a:avLst/>
          </a:prstGeom>
          <a:solidFill>
            <a:srgbClr val="D97706"/>
          </a:solidFill>
          <a:ln w="12700">
            <a:solidFill>
              <a:srgbClr val="D97706"/>
            </a:solidFill>
            <a:prstDash val="solid"/>
          </a:ln>
        </p:spPr>
      </p:sp>
      <p:sp>
        <p:nvSpPr>
          <p:cNvPr id="7" name="Text 5"/>
          <p:cNvSpPr/>
          <p:nvPr/>
        </p:nvSpPr>
        <p:spPr>
          <a:xfrm>
            <a:off x="960120" y="1097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365760" y="1755648"/>
            <a:ext cx="1737360" cy="384048"/>
          </a:xfrm>
          <a:prstGeom prst="rect">
            <a:avLst/>
          </a:prstGeom>
          <a:noFill/>
          <a:ln/>
        </p:spPr>
        <p:txBody>
          <a:bodyPr wrap="square" rtlCol="0" anchor="ctr"/>
          <a:lstStyle/>
          <a:p>
            <a:pPr algn="ctr" indent="0" marL="0">
              <a:buNone/>
            </a:pPr>
            <a:r>
              <a:rPr lang="en-US" sz="1300" b="1" dirty="0">
                <a:solidFill>
                  <a:srgbClr val="D97706"/>
                </a:solidFill>
              </a:rPr>
              <a:t>Discover</a:t>
            </a:r>
            <a:endParaRPr lang="en-US" sz="1300" dirty="0"/>
          </a:p>
        </p:txBody>
      </p:sp>
      <p:sp>
        <p:nvSpPr>
          <p:cNvPr id="9" name="Text 7"/>
          <p:cNvSpPr/>
          <p:nvPr/>
        </p:nvSpPr>
        <p:spPr>
          <a:xfrm>
            <a:off x="384048" y="2194560"/>
            <a:ext cx="1700784" cy="1463040"/>
          </a:xfrm>
          <a:prstGeom prst="rect">
            <a:avLst/>
          </a:prstGeom>
          <a:noFill/>
          <a:ln/>
        </p:spPr>
        <p:txBody>
          <a:bodyPr wrap="square" rtlCol="0" anchor="t"/>
          <a:lstStyle/>
          <a:p>
            <a:pPr algn="l" indent="0" marL="0">
              <a:buNone/>
            </a:pPr>
            <a:r>
              <a:rPr lang="en-US" sz="950" dirty="0">
                <a:solidFill>
                  <a:srgbClr val="FFFFFF"/>
                </a:solidFill>
              </a:rPr>
              <a:t>Upload code + diagrams to Claude (Projects) or Gemini/Antigravity (1M context, parallel agents). Get architecture narrative and concern flags.</a:t>
            </a:r>
            <a:endParaRPr lang="en-US" sz="950" dirty="0"/>
          </a:p>
        </p:txBody>
      </p:sp>
      <p:sp>
        <p:nvSpPr>
          <p:cNvPr id="10" name="Shape 8"/>
          <p:cNvSpPr/>
          <p:nvPr/>
        </p:nvSpPr>
        <p:spPr>
          <a:xfrm>
            <a:off x="2194560" y="2286000"/>
            <a:ext cx="256032" cy="91440"/>
          </a:xfrm>
          <a:prstGeom prst="rect">
            <a:avLst/>
          </a:prstGeom>
          <a:solidFill>
            <a:srgbClr val="94A3B8"/>
          </a:solidFill>
          <a:ln w="12700">
            <a:solidFill>
              <a:srgbClr val="94A3B8"/>
            </a:solidFill>
            <a:prstDash val="solid"/>
          </a:ln>
        </p:spPr>
      </p:sp>
      <p:sp>
        <p:nvSpPr>
          <p:cNvPr id="11" name="Shape 9"/>
          <p:cNvSpPr/>
          <p:nvPr/>
        </p:nvSpPr>
        <p:spPr>
          <a:xfrm>
            <a:off x="2450592" y="1005840"/>
            <a:ext cx="1920240" cy="2834640"/>
          </a:xfrm>
          <a:prstGeom prst="rect">
            <a:avLst/>
          </a:prstGeom>
          <a:solidFill>
            <a:srgbClr val="1A3060"/>
          </a:solidFill>
          <a:ln w="12700">
            <a:solidFill>
              <a:srgbClr val="1F883D"/>
            </a:solidFill>
            <a:prstDash val="solid"/>
          </a:ln>
        </p:spPr>
      </p:sp>
      <p:sp>
        <p:nvSpPr>
          <p:cNvPr id="12" name="Shape 10"/>
          <p:cNvSpPr/>
          <p:nvPr/>
        </p:nvSpPr>
        <p:spPr>
          <a:xfrm>
            <a:off x="2450592" y="1005840"/>
            <a:ext cx="1920240" cy="73152"/>
          </a:xfrm>
          <a:prstGeom prst="rect">
            <a:avLst/>
          </a:prstGeom>
          <a:solidFill>
            <a:srgbClr val="1F883D"/>
          </a:solidFill>
          <a:ln w="12700">
            <a:solidFill>
              <a:srgbClr val="1F883D"/>
            </a:solidFill>
            <a:prstDash val="solid"/>
          </a:ln>
        </p:spPr>
      </p:sp>
      <p:sp>
        <p:nvSpPr>
          <p:cNvPr id="13" name="Shape 11"/>
          <p:cNvSpPr/>
          <p:nvPr/>
        </p:nvSpPr>
        <p:spPr>
          <a:xfrm>
            <a:off x="3136392" y="1097280"/>
            <a:ext cx="548640" cy="548640"/>
          </a:xfrm>
          <a:prstGeom prst="ellipse">
            <a:avLst/>
          </a:prstGeom>
          <a:solidFill>
            <a:srgbClr val="1F883D"/>
          </a:solidFill>
          <a:ln w="12700">
            <a:solidFill>
              <a:srgbClr val="1F883D"/>
            </a:solidFill>
            <a:prstDash val="solid"/>
          </a:ln>
        </p:spPr>
      </p:sp>
      <p:sp>
        <p:nvSpPr>
          <p:cNvPr id="14" name="Text 12"/>
          <p:cNvSpPr/>
          <p:nvPr/>
        </p:nvSpPr>
        <p:spPr>
          <a:xfrm>
            <a:off x="3136392" y="1097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p:nvPr/>
        </p:nvSpPr>
        <p:spPr>
          <a:xfrm>
            <a:off x="2542032" y="1755648"/>
            <a:ext cx="1737360" cy="384048"/>
          </a:xfrm>
          <a:prstGeom prst="rect">
            <a:avLst/>
          </a:prstGeom>
          <a:noFill/>
          <a:ln/>
        </p:spPr>
        <p:txBody>
          <a:bodyPr wrap="square" rtlCol="0" anchor="ctr"/>
          <a:lstStyle/>
          <a:p>
            <a:pPr algn="ctr" indent="0" marL="0">
              <a:buNone/>
            </a:pPr>
            <a:r>
              <a:rPr lang="en-US" sz="1300" b="1" dirty="0">
                <a:solidFill>
                  <a:srgbClr val="1F883D"/>
                </a:solidFill>
              </a:rPr>
              <a:t>Design</a:t>
            </a:r>
            <a:endParaRPr lang="en-US" sz="1300" dirty="0"/>
          </a:p>
        </p:txBody>
      </p:sp>
      <p:sp>
        <p:nvSpPr>
          <p:cNvPr id="16" name="Text 14"/>
          <p:cNvSpPr/>
          <p:nvPr/>
        </p:nvSpPr>
        <p:spPr>
          <a:xfrm>
            <a:off x="2560320" y="2194560"/>
            <a:ext cx="1700784" cy="1463040"/>
          </a:xfrm>
          <a:prstGeom prst="rect">
            <a:avLst/>
          </a:prstGeom>
          <a:noFill/>
          <a:ln/>
        </p:spPr>
        <p:txBody>
          <a:bodyPr wrap="square" rtlCol="0" anchor="t"/>
          <a:lstStyle/>
          <a:p>
            <a:pPr algn="l" indent="0" marL="0">
              <a:buNone/>
            </a:pPr>
            <a:r>
              <a:rPr lang="en-US" sz="950" dirty="0">
                <a:solidFill>
                  <a:srgbClr val="FFFFFF"/>
                </a:solidFill>
              </a:rPr>
              <a:t>Generate options + ADRs with Claude. Scaffold IaC with Copilot Agent. Cross-reference diagrams in Gemini.</a:t>
            </a:r>
            <a:endParaRPr lang="en-US" sz="950" dirty="0"/>
          </a:p>
        </p:txBody>
      </p:sp>
      <p:sp>
        <p:nvSpPr>
          <p:cNvPr id="17" name="Shape 15"/>
          <p:cNvSpPr/>
          <p:nvPr/>
        </p:nvSpPr>
        <p:spPr>
          <a:xfrm>
            <a:off x="4370832" y="2286000"/>
            <a:ext cx="256032" cy="91440"/>
          </a:xfrm>
          <a:prstGeom prst="rect">
            <a:avLst/>
          </a:prstGeom>
          <a:solidFill>
            <a:srgbClr val="94A3B8"/>
          </a:solidFill>
          <a:ln w="12700">
            <a:solidFill>
              <a:srgbClr val="94A3B8"/>
            </a:solidFill>
            <a:prstDash val="solid"/>
          </a:ln>
        </p:spPr>
      </p:sp>
      <p:sp>
        <p:nvSpPr>
          <p:cNvPr id="18" name="Shape 16"/>
          <p:cNvSpPr/>
          <p:nvPr/>
        </p:nvSpPr>
        <p:spPr>
          <a:xfrm>
            <a:off x="4626864" y="1005840"/>
            <a:ext cx="1920240" cy="2834640"/>
          </a:xfrm>
          <a:prstGeom prst="rect">
            <a:avLst/>
          </a:prstGeom>
          <a:solidFill>
            <a:srgbClr val="1A3060"/>
          </a:solidFill>
          <a:ln w="12700">
            <a:solidFill>
              <a:srgbClr val="4285F4"/>
            </a:solidFill>
            <a:prstDash val="solid"/>
          </a:ln>
        </p:spPr>
      </p:sp>
      <p:sp>
        <p:nvSpPr>
          <p:cNvPr id="19" name="Shape 17"/>
          <p:cNvSpPr/>
          <p:nvPr/>
        </p:nvSpPr>
        <p:spPr>
          <a:xfrm>
            <a:off x="4626864" y="1005840"/>
            <a:ext cx="1920240" cy="73152"/>
          </a:xfrm>
          <a:prstGeom prst="rect">
            <a:avLst/>
          </a:prstGeom>
          <a:solidFill>
            <a:srgbClr val="4285F4"/>
          </a:solidFill>
          <a:ln w="12700">
            <a:solidFill>
              <a:srgbClr val="4285F4"/>
            </a:solidFill>
            <a:prstDash val="solid"/>
          </a:ln>
        </p:spPr>
      </p:sp>
      <p:sp>
        <p:nvSpPr>
          <p:cNvPr id="20" name="Shape 18"/>
          <p:cNvSpPr/>
          <p:nvPr/>
        </p:nvSpPr>
        <p:spPr>
          <a:xfrm>
            <a:off x="5312664" y="1097280"/>
            <a:ext cx="548640" cy="548640"/>
          </a:xfrm>
          <a:prstGeom prst="ellipse">
            <a:avLst/>
          </a:prstGeom>
          <a:solidFill>
            <a:srgbClr val="4285F4"/>
          </a:solidFill>
          <a:ln w="12700">
            <a:solidFill>
              <a:srgbClr val="4285F4"/>
            </a:solidFill>
            <a:prstDash val="solid"/>
          </a:ln>
        </p:spPr>
      </p:sp>
      <p:sp>
        <p:nvSpPr>
          <p:cNvPr id="21" name="Text 19"/>
          <p:cNvSpPr/>
          <p:nvPr/>
        </p:nvSpPr>
        <p:spPr>
          <a:xfrm>
            <a:off x="5312664" y="1097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2" name="Text 20"/>
          <p:cNvSpPr/>
          <p:nvPr/>
        </p:nvSpPr>
        <p:spPr>
          <a:xfrm>
            <a:off x="4718304" y="1755648"/>
            <a:ext cx="1737360" cy="384048"/>
          </a:xfrm>
          <a:prstGeom prst="rect">
            <a:avLst/>
          </a:prstGeom>
          <a:noFill/>
          <a:ln/>
        </p:spPr>
        <p:txBody>
          <a:bodyPr wrap="square" rtlCol="0" anchor="ctr"/>
          <a:lstStyle/>
          <a:p>
            <a:pPr algn="ctr" indent="0" marL="0">
              <a:buNone/>
            </a:pPr>
            <a:r>
              <a:rPr lang="en-US" sz="1300" b="1" dirty="0">
                <a:solidFill>
                  <a:srgbClr val="4285F4"/>
                </a:solidFill>
              </a:rPr>
              <a:t>Build</a:t>
            </a:r>
            <a:endParaRPr lang="en-US" sz="1300" dirty="0"/>
          </a:p>
        </p:txBody>
      </p:sp>
      <p:sp>
        <p:nvSpPr>
          <p:cNvPr id="23" name="Text 21"/>
          <p:cNvSpPr/>
          <p:nvPr/>
        </p:nvSpPr>
        <p:spPr>
          <a:xfrm>
            <a:off x="4736592" y="2194560"/>
            <a:ext cx="1700784" cy="1463040"/>
          </a:xfrm>
          <a:prstGeom prst="rect">
            <a:avLst/>
          </a:prstGeom>
          <a:noFill/>
          <a:ln/>
        </p:spPr>
        <p:txBody>
          <a:bodyPr wrap="square" rtlCol="0" anchor="t"/>
          <a:lstStyle/>
          <a:p>
            <a:pPr algn="l" indent="0" marL="0">
              <a:buNone/>
            </a:pPr>
            <a:r>
              <a:rPr lang="en-US" sz="950" dirty="0">
                <a:solidFill>
                  <a:srgbClr val="FFFFFF"/>
                </a:solidFill>
              </a:rPr>
              <a:t>Assign issues to Copilot Coding Agent. Use Claude Code for terminal-based builds. Antigravity: parallel agents for multi-task builds.</a:t>
            </a:r>
            <a:endParaRPr lang="en-US" sz="950" dirty="0"/>
          </a:p>
        </p:txBody>
      </p:sp>
      <p:sp>
        <p:nvSpPr>
          <p:cNvPr id="24" name="Shape 22"/>
          <p:cNvSpPr/>
          <p:nvPr/>
        </p:nvSpPr>
        <p:spPr>
          <a:xfrm>
            <a:off x="6547104" y="2286000"/>
            <a:ext cx="256032" cy="91440"/>
          </a:xfrm>
          <a:prstGeom prst="rect">
            <a:avLst/>
          </a:prstGeom>
          <a:solidFill>
            <a:srgbClr val="94A3B8"/>
          </a:solidFill>
          <a:ln w="12700">
            <a:solidFill>
              <a:srgbClr val="94A3B8"/>
            </a:solidFill>
            <a:prstDash val="solid"/>
          </a:ln>
        </p:spPr>
      </p:sp>
      <p:sp>
        <p:nvSpPr>
          <p:cNvPr id="25" name="Shape 23"/>
          <p:cNvSpPr/>
          <p:nvPr/>
        </p:nvSpPr>
        <p:spPr>
          <a:xfrm>
            <a:off x="6803136" y="1005840"/>
            <a:ext cx="1920240" cy="2834640"/>
          </a:xfrm>
          <a:prstGeom prst="rect">
            <a:avLst/>
          </a:prstGeom>
          <a:solidFill>
            <a:srgbClr val="1A3060"/>
          </a:solidFill>
          <a:ln w="12700">
            <a:solidFill>
              <a:srgbClr val="00B4D8"/>
            </a:solidFill>
            <a:prstDash val="solid"/>
          </a:ln>
        </p:spPr>
      </p:sp>
      <p:sp>
        <p:nvSpPr>
          <p:cNvPr id="26" name="Shape 24"/>
          <p:cNvSpPr/>
          <p:nvPr/>
        </p:nvSpPr>
        <p:spPr>
          <a:xfrm>
            <a:off x="6803136" y="1005840"/>
            <a:ext cx="1920240" cy="73152"/>
          </a:xfrm>
          <a:prstGeom prst="rect">
            <a:avLst/>
          </a:prstGeom>
          <a:solidFill>
            <a:srgbClr val="00B4D8"/>
          </a:solidFill>
          <a:ln w="12700">
            <a:solidFill>
              <a:srgbClr val="00B4D8"/>
            </a:solidFill>
            <a:prstDash val="solid"/>
          </a:ln>
        </p:spPr>
      </p:sp>
      <p:sp>
        <p:nvSpPr>
          <p:cNvPr id="27" name="Shape 25"/>
          <p:cNvSpPr/>
          <p:nvPr/>
        </p:nvSpPr>
        <p:spPr>
          <a:xfrm>
            <a:off x="7488936" y="1097280"/>
            <a:ext cx="548640" cy="548640"/>
          </a:xfrm>
          <a:prstGeom prst="ellipse">
            <a:avLst/>
          </a:prstGeom>
          <a:solidFill>
            <a:srgbClr val="00B4D8"/>
          </a:solidFill>
          <a:ln w="12700">
            <a:solidFill>
              <a:srgbClr val="00B4D8"/>
            </a:solidFill>
            <a:prstDash val="solid"/>
          </a:ln>
        </p:spPr>
      </p:sp>
      <p:sp>
        <p:nvSpPr>
          <p:cNvPr id="28" name="Text 26"/>
          <p:cNvSpPr/>
          <p:nvPr/>
        </p:nvSpPr>
        <p:spPr>
          <a:xfrm>
            <a:off x="7488936" y="1097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9" name="Text 27"/>
          <p:cNvSpPr/>
          <p:nvPr/>
        </p:nvSpPr>
        <p:spPr>
          <a:xfrm>
            <a:off x="6894576" y="1755648"/>
            <a:ext cx="1737360" cy="384048"/>
          </a:xfrm>
          <a:prstGeom prst="rect">
            <a:avLst/>
          </a:prstGeom>
          <a:noFill/>
          <a:ln/>
        </p:spPr>
        <p:txBody>
          <a:bodyPr wrap="square" rtlCol="0" anchor="ctr"/>
          <a:lstStyle/>
          <a:p>
            <a:pPr algn="ctr" indent="0" marL="0">
              <a:buNone/>
            </a:pPr>
            <a:r>
              <a:rPr lang="en-US" sz="1300" b="1" dirty="0">
                <a:solidFill>
                  <a:srgbClr val="00B4D8"/>
                </a:solidFill>
              </a:rPr>
              <a:t>Validate</a:t>
            </a:r>
            <a:endParaRPr lang="en-US" sz="1300" dirty="0"/>
          </a:p>
        </p:txBody>
      </p:sp>
      <p:sp>
        <p:nvSpPr>
          <p:cNvPr id="30" name="Text 28"/>
          <p:cNvSpPr/>
          <p:nvPr/>
        </p:nvSpPr>
        <p:spPr>
          <a:xfrm>
            <a:off x="6912864" y="2194560"/>
            <a:ext cx="1700784" cy="1463040"/>
          </a:xfrm>
          <a:prstGeom prst="rect">
            <a:avLst/>
          </a:prstGeom>
          <a:noFill/>
          <a:ln/>
        </p:spPr>
        <p:txBody>
          <a:bodyPr wrap="square" rtlCol="0" anchor="t"/>
          <a:lstStyle/>
          <a:p>
            <a:pPr algn="l" indent="0" marL="0">
              <a:buNone/>
            </a:pPr>
            <a:r>
              <a:rPr lang="en-US" sz="950" dirty="0">
                <a:solidFill>
                  <a:srgbClr val="FFFFFF"/>
                </a:solidFill>
              </a:rPr>
              <a:t>Copilot auto-scans for security. Claude generates threat models. Gemini reviews PRs. All before human review.</a:t>
            </a:r>
            <a:endParaRPr lang="en-US" sz="950" dirty="0"/>
          </a:p>
        </p:txBody>
      </p:sp>
      <p:sp>
        <p:nvSpPr>
          <p:cNvPr id="31" name="Text 29"/>
          <p:cNvSpPr/>
          <p:nvPr/>
        </p:nvSpPr>
        <p:spPr>
          <a:xfrm>
            <a:off x="274320" y="4023360"/>
            <a:ext cx="8595360" cy="347472"/>
          </a:xfrm>
          <a:prstGeom prst="rect">
            <a:avLst/>
          </a:prstGeom>
          <a:noFill/>
          <a:ln/>
        </p:spPr>
        <p:txBody>
          <a:bodyPr wrap="square" rtlCol="0" anchor="ctr"/>
          <a:lstStyle/>
          <a:p>
            <a:pPr indent="0" marL="0">
              <a:buNone/>
            </a:pPr>
            <a:r>
              <a:rPr lang="en-US" sz="1300" b="1" dirty="0">
                <a:solidFill>
                  <a:srgbClr val="00B4D8"/>
                </a:solidFill>
              </a:rPr>
              <a:t>Guiding Principles</a:t>
            </a:r>
            <a:endParaRPr lang="en-US" sz="1300" dirty="0"/>
          </a:p>
        </p:txBody>
      </p:sp>
      <p:sp>
        <p:nvSpPr>
          <p:cNvPr id="32" name="Text 30"/>
          <p:cNvSpPr/>
          <p:nvPr/>
        </p:nvSpPr>
        <p:spPr>
          <a:xfrm>
            <a:off x="320040" y="4434840"/>
            <a:ext cx="8412480" cy="219456"/>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FFFFFF"/>
                </a:solidFill>
              </a:rPr>
              <a:t>AI augments judgment, it doesn't replace it — always validate outputs against your architectural principles</a:t>
            </a:r>
            <a:endParaRPr lang="en-US" sz="1050" dirty="0"/>
          </a:p>
        </p:txBody>
      </p:sp>
      <p:sp>
        <p:nvSpPr>
          <p:cNvPr id="33" name="Text 31"/>
          <p:cNvSpPr/>
          <p:nvPr/>
        </p:nvSpPr>
        <p:spPr>
          <a:xfrm>
            <a:off x="320040" y="4681728"/>
            <a:ext cx="8412480" cy="219456"/>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FFFFFF"/>
                </a:solidFill>
              </a:rPr>
              <a:t>Combine tools: Gemini for intake, Claude for reasoning, Copilot for implementation and security</a:t>
            </a:r>
            <a:endParaRPr lang="en-US" sz="1050" dirty="0"/>
          </a:p>
        </p:txBody>
      </p:sp>
      <p:sp>
        <p:nvSpPr>
          <p:cNvPr id="34" name="Text 32"/>
          <p:cNvSpPr/>
          <p:nvPr/>
        </p:nvSpPr>
        <p:spPr>
          <a:xfrm>
            <a:off x="320040" y="4928616"/>
            <a:ext cx="8412480" cy="219456"/>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FFFFFF"/>
                </a:solidFill>
              </a:rPr>
              <a:t>Treat AI output as a first draft. Review like you'd review a junior architect's work — verify, refine, approve.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0B4D8"/>
          </a:solidFill>
          <a:ln w="12700">
            <a:solidFill>
              <a:srgbClr val="00B4D8"/>
            </a:solidFill>
            <a:prstDash val="solid"/>
          </a:ln>
        </p:spPr>
      </p:sp>
      <p:sp>
        <p:nvSpPr>
          <p:cNvPr id="3" name="Text 1"/>
          <p:cNvSpPr/>
          <p:nvPr/>
        </p:nvSpPr>
        <p:spPr>
          <a:xfrm>
            <a:off x="640080" y="457200"/>
            <a:ext cx="8046720" cy="82296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Start Today</a:t>
            </a:r>
            <a:endParaRPr lang="en-US" sz="3800" dirty="0"/>
          </a:p>
        </p:txBody>
      </p:sp>
      <p:sp>
        <p:nvSpPr>
          <p:cNvPr id="4" name="Text 2"/>
          <p:cNvSpPr/>
          <p:nvPr/>
        </p:nvSpPr>
        <p:spPr>
          <a:xfrm>
            <a:off x="640080" y="1234440"/>
            <a:ext cx="7772400" cy="502920"/>
          </a:xfrm>
          <a:prstGeom prst="rect">
            <a:avLst/>
          </a:prstGeom>
          <a:noFill/>
          <a:ln/>
        </p:spPr>
        <p:txBody>
          <a:bodyPr wrap="square" rtlCol="0" anchor="ctr"/>
          <a:lstStyle/>
          <a:p>
            <a:pPr indent="0" marL="0">
              <a:buNone/>
            </a:pPr>
            <a:r>
              <a:rPr lang="en-US" sz="1600" i="1" dirty="0">
                <a:solidFill>
                  <a:srgbClr val="00B4D8"/>
                </a:solidFill>
              </a:rPr>
              <a:t>You don't need a new tool — you need a new reflex.</a:t>
            </a:r>
            <a:endParaRPr lang="en-US" sz="1600" dirty="0"/>
          </a:p>
        </p:txBody>
      </p:sp>
      <p:sp>
        <p:nvSpPr>
          <p:cNvPr id="5" name="Shape 3"/>
          <p:cNvSpPr/>
          <p:nvPr/>
        </p:nvSpPr>
        <p:spPr>
          <a:xfrm>
            <a:off x="594360" y="1920240"/>
            <a:ext cx="2651760" cy="2880360"/>
          </a:xfrm>
          <a:prstGeom prst="rect">
            <a:avLst/>
          </a:prstGeom>
          <a:solidFill>
            <a:srgbClr val="1A3060"/>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594360" y="1920240"/>
            <a:ext cx="2651760" cy="73152"/>
          </a:xfrm>
          <a:prstGeom prst="rect">
            <a:avLst/>
          </a:prstGeom>
          <a:solidFill>
            <a:srgbClr val="D97706"/>
          </a:solidFill>
          <a:ln w="12700">
            <a:solidFill>
              <a:srgbClr val="D97706"/>
            </a:solidFill>
            <a:prstDash val="solid"/>
          </a:ln>
        </p:spPr>
      </p:sp>
      <p:sp>
        <p:nvSpPr>
          <p:cNvPr id="7" name="Text 5"/>
          <p:cNvSpPr/>
          <p:nvPr/>
        </p:nvSpPr>
        <p:spPr>
          <a:xfrm>
            <a:off x="731520" y="2011680"/>
            <a:ext cx="2377440" cy="384048"/>
          </a:xfrm>
          <a:prstGeom prst="rect">
            <a:avLst/>
          </a:prstGeom>
          <a:noFill/>
          <a:ln/>
        </p:spPr>
        <p:txBody>
          <a:bodyPr wrap="square" rtlCol="0" anchor="ctr"/>
          <a:lstStyle/>
          <a:p>
            <a:pPr indent="0" marL="0">
              <a:buNone/>
            </a:pPr>
            <a:r>
              <a:rPr lang="en-US" sz="1300" b="1" dirty="0">
                <a:solidFill>
                  <a:srgbClr val="D97706"/>
                </a:solidFill>
              </a:rPr>
              <a:t>This Week</a:t>
            </a:r>
            <a:endParaRPr lang="en-US" sz="1300" dirty="0"/>
          </a:p>
        </p:txBody>
      </p:sp>
      <p:sp>
        <p:nvSpPr>
          <p:cNvPr id="8" name="Text 6"/>
          <p:cNvSpPr/>
          <p:nvPr/>
        </p:nvSpPr>
        <p:spPr>
          <a:xfrm>
            <a:off x="731520" y="2514600"/>
            <a:ext cx="2377440" cy="658368"/>
          </a:xfrm>
          <a:prstGeom prst="rect">
            <a:avLst/>
          </a:prstGeom>
          <a:noFill/>
          <a:ln/>
        </p:spPr>
        <p:txBody>
          <a:bodyPr wrap="square" rtlCol="0" anchor="t"/>
          <a:lstStyle/>
          <a:p>
            <a:pPr indent="0" marL="0">
              <a:buNone/>
            </a:pPr>
            <a:r>
              <a:rPr lang="en-US" sz="950" dirty="0">
                <a:solidFill>
                  <a:srgbClr val="D97706"/>
                </a:solidFill>
              </a:rPr>
              <a:t>→  </a:t>
            </a:r>
            <a:pPr indent="0" marL="0">
              <a:buNone/>
            </a:pPr>
            <a:r>
              <a:rPr lang="en-US" sz="950" dirty="0">
                <a:solidFill>
                  <a:srgbClr val="FFFFFF"/>
                </a:solidFill>
              </a:rPr>
              <a:t>Try Claude on one legacy codebase — ask it to explain the architecture and generate a Mermaid diagram</a:t>
            </a:r>
            <a:endParaRPr lang="en-US" sz="950" dirty="0"/>
          </a:p>
        </p:txBody>
      </p:sp>
      <p:sp>
        <p:nvSpPr>
          <p:cNvPr id="9" name="Text 7"/>
          <p:cNvSpPr/>
          <p:nvPr/>
        </p:nvSpPr>
        <p:spPr>
          <a:xfrm>
            <a:off x="731520" y="3227832"/>
            <a:ext cx="2377440" cy="658368"/>
          </a:xfrm>
          <a:prstGeom prst="rect">
            <a:avLst/>
          </a:prstGeom>
          <a:noFill/>
          <a:ln/>
        </p:spPr>
        <p:txBody>
          <a:bodyPr wrap="square" rtlCol="0" anchor="t"/>
          <a:lstStyle/>
          <a:p>
            <a:pPr indent="0" marL="0">
              <a:buNone/>
            </a:pPr>
            <a:r>
              <a:rPr lang="en-US" sz="950" dirty="0">
                <a:solidFill>
                  <a:srgbClr val="D97706"/>
                </a:solidFill>
              </a:rPr>
              <a:t>→  </a:t>
            </a:r>
            <a:pPr indent="0" marL="0">
              <a:buNone/>
            </a:pPr>
            <a:r>
              <a:rPr lang="en-US" sz="950" dirty="0">
                <a:solidFill>
                  <a:srgbClr val="FFFFFF"/>
                </a:solidFill>
              </a:rPr>
              <a:t>Use Copilot Agent Mode to scaffold a Terraform module with security review</a:t>
            </a:r>
            <a:endParaRPr lang="en-US" sz="950" dirty="0"/>
          </a:p>
        </p:txBody>
      </p:sp>
      <p:sp>
        <p:nvSpPr>
          <p:cNvPr id="10" name="Text 8"/>
          <p:cNvSpPr/>
          <p:nvPr/>
        </p:nvSpPr>
        <p:spPr>
          <a:xfrm>
            <a:off x="731520" y="3941064"/>
            <a:ext cx="2377440" cy="658368"/>
          </a:xfrm>
          <a:prstGeom prst="rect">
            <a:avLst/>
          </a:prstGeom>
          <a:noFill/>
          <a:ln/>
        </p:spPr>
        <p:txBody>
          <a:bodyPr wrap="square" rtlCol="0" anchor="t"/>
          <a:lstStyle/>
          <a:p>
            <a:pPr indent="0" marL="0">
              <a:buNone/>
            </a:pPr>
            <a:r>
              <a:rPr lang="en-US" sz="950" dirty="0">
                <a:solidFill>
                  <a:srgbClr val="D97706"/>
                </a:solidFill>
              </a:rPr>
              <a:t>→  </a:t>
            </a:r>
            <a:pPr indent="0" marL="0">
              <a:buNone/>
            </a:pPr>
            <a:r>
              <a:rPr lang="en-US" sz="950" dirty="0">
                <a:solidFill>
                  <a:srgbClr val="FFFFFF"/>
                </a:solidFill>
              </a:rPr>
              <a:t>Upload a whiteboard diagram to Gemini (or Antigravity) and ask it to generate a component spec</a:t>
            </a:r>
            <a:endParaRPr lang="en-US" sz="950" dirty="0"/>
          </a:p>
        </p:txBody>
      </p:sp>
      <p:sp>
        <p:nvSpPr>
          <p:cNvPr id="11" name="Shape 9"/>
          <p:cNvSpPr/>
          <p:nvPr/>
        </p:nvSpPr>
        <p:spPr>
          <a:xfrm>
            <a:off x="3429000" y="1920240"/>
            <a:ext cx="2651760" cy="2880360"/>
          </a:xfrm>
          <a:prstGeom prst="rect">
            <a:avLst/>
          </a:prstGeom>
          <a:solidFill>
            <a:srgbClr val="1A3060"/>
          </a:solidFill>
          <a:ln w="12700">
            <a:solidFill>
              <a:srgbClr val="4285F4"/>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429000" y="1920240"/>
            <a:ext cx="2651760" cy="73152"/>
          </a:xfrm>
          <a:prstGeom prst="rect">
            <a:avLst/>
          </a:prstGeom>
          <a:solidFill>
            <a:srgbClr val="4285F4"/>
          </a:solidFill>
          <a:ln w="12700">
            <a:solidFill>
              <a:srgbClr val="4285F4"/>
            </a:solidFill>
            <a:prstDash val="solid"/>
          </a:ln>
        </p:spPr>
      </p:sp>
      <p:sp>
        <p:nvSpPr>
          <p:cNvPr id="13" name="Text 11"/>
          <p:cNvSpPr/>
          <p:nvPr/>
        </p:nvSpPr>
        <p:spPr>
          <a:xfrm>
            <a:off x="3566160" y="2011680"/>
            <a:ext cx="2377440" cy="384048"/>
          </a:xfrm>
          <a:prstGeom prst="rect">
            <a:avLst/>
          </a:prstGeom>
          <a:noFill/>
          <a:ln/>
        </p:spPr>
        <p:txBody>
          <a:bodyPr wrap="square" rtlCol="0" anchor="ctr"/>
          <a:lstStyle/>
          <a:p>
            <a:pPr indent="0" marL="0">
              <a:buNone/>
            </a:pPr>
            <a:r>
              <a:rPr lang="en-US" sz="1300" b="1" dirty="0">
                <a:solidFill>
                  <a:srgbClr val="4285F4"/>
                </a:solidFill>
              </a:rPr>
              <a:t>This Month</a:t>
            </a:r>
            <a:endParaRPr lang="en-US" sz="1300" dirty="0"/>
          </a:p>
        </p:txBody>
      </p:sp>
      <p:sp>
        <p:nvSpPr>
          <p:cNvPr id="14" name="Text 12"/>
          <p:cNvSpPr/>
          <p:nvPr/>
        </p:nvSpPr>
        <p:spPr>
          <a:xfrm>
            <a:off x="3566160" y="2514600"/>
            <a:ext cx="2377440" cy="658368"/>
          </a:xfrm>
          <a:prstGeom prst="rect">
            <a:avLst/>
          </a:prstGeom>
          <a:noFill/>
          <a:ln/>
        </p:spPr>
        <p:txBody>
          <a:bodyPr wrap="square" rtlCol="0" anchor="t"/>
          <a:lstStyle/>
          <a:p>
            <a:pPr indent="0" marL="0">
              <a:buNone/>
            </a:pPr>
            <a:r>
              <a:rPr lang="en-US" sz="950" dirty="0">
                <a:solidFill>
                  <a:srgbClr val="4285F4"/>
                </a:solidFill>
              </a:rPr>
              <a:t>→  </a:t>
            </a:r>
            <a:pPr indent="0" marL="0">
              <a:buNone/>
            </a:pPr>
            <a:r>
              <a:rPr lang="en-US" sz="950" dirty="0">
                <a:solidFill>
                  <a:srgbClr val="FFFFFF"/>
                </a:solidFill>
              </a:rPr>
              <a:t>Generate your first AI-assisted ADR for a real architectural decision using Claude Projects</a:t>
            </a:r>
            <a:endParaRPr lang="en-US" sz="950" dirty="0"/>
          </a:p>
        </p:txBody>
      </p:sp>
      <p:sp>
        <p:nvSpPr>
          <p:cNvPr id="15" name="Text 13"/>
          <p:cNvSpPr/>
          <p:nvPr/>
        </p:nvSpPr>
        <p:spPr>
          <a:xfrm>
            <a:off x="3566160" y="3227832"/>
            <a:ext cx="2377440" cy="658368"/>
          </a:xfrm>
          <a:prstGeom prst="rect">
            <a:avLst/>
          </a:prstGeom>
          <a:noFill/>
          <a:ln/>
        </p:spPr>
        <p:txBody>
          <a:bodyPr wrap="square" rtlCol="0" anchor="t"/>
          <a:lstStyle/>
          <a:p>
            <a:pPr indent="0" marL="0">
              <a:buNone/>
            </a:pPr>
            <a:r>
              <a:rPr lang="en-US" sz="950" dirty="0">
                <a:solidFill>
                  <a:srgbClr val="4285F4"/>
                </a:solidFill>
              </a:rPr>
              <a:t>→  </a:t>
            </a:r>
            <a:pPr indent="0" marL="0">
              <a:buNone/>
            </a:pPr>
            <a:r>
              <a:rPr lang="en-US" sz="950" dirty="0">
                <a:solidFill>
                  <a:srgbClr val="FFFFFF"/>
                </a:solidFill>
              </a:rPr>
              <a:t>Assign a low-complexity GitHub issue to Copilot's Coding Agent and review the PR it creates</a:t>
            </a:r>
            <a:endParaRPr lang="en-US" sz="950" dirty="0"/>
          </a:p>
        </p:txBody>
      </p:sp>
      <p:sp>
        <p:nvSpPr>
          <p:cNvPr id="16" name="Text 14"/>
          <p:cNvSpPr/>
          <p:nvPr/>
        </p:nvSpPr>
        <p:spPr>
          <a:xfrm>
            <a:off x="3566160" y="3941064"/>
            <a:ext cx="2377440" cy="658368"/>
          </a:xfrm>
          <a:prstGeom prst="rect">
            <a:avLst/>
          </a:prstGeom>
          <a:noFill/>
          <a:ln/>
        </p:spPr>
        <p:txBody>
          <a:bodyPr wrap="square" rtlCol="0" anchor="t"/>
          <a:lstStyle/>
          <a:p>
            <a:pPr indent="0" marL="0">
              <a:buNone/>
            </a:pPr>
            <a:r>
              <a:rPr lang="en-US" sz="950" dirty="0">
                <a:solidFill>
                  <a:srgbClr val="4285F4"/>
                </a:solidFill>
              </a:rPr>
              <a:t>→  </a:t>
            </a:r>
            <a:pPr indent="0" marL="0">
              <a:buNone/>
            </a:pPr>
            <a:r>
              <a:rPr lang="en-US" sz="950" dirty="0">
                <a:solidFill>
                  <a:srgbClr val="FFFFFF"/>
                </a:solidFill>
              </a:rPr>
              <a:t>Run a security review: Copilot scans code + Claude generates a STRIDE threat model</a:t>
            </a:r>
            <a:endParaRPr lang="en-US" sz="950" dirty="0"/>
          </a:p>
        </p:txBody>
      </p:sp>
      <p:sp>
        <p:nvSpPr>
          <p:cNvPr id="17" name="Shape 15"/>
          <p:cNvSpPr/>
          <p:nvPr/>
        </p:nvSpPr>
        <p:spPr>
          <a:xfrm>
            <a:off x="6263640" y="1920240"/>
            <a:ext cx="2651760" cy="2880360"/>
          </a:xfrm>
          <a:prstGeom prst="rect">
            <a:avLst/>
          </a:prstGeom>
          <a:solidFill>
            <a:srgbClr val="1A3060"/>
          </a:solidFill>
          <a:ln w="12700">
            <a:solidFill>
              <a:srgbClr val="1F883D"/>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6263640" y="1920240"/>
            <a:ext cx="2651760" cy="73152"/>
          </a:xfrm>
          <a:prstGeom prst="rect">
            <a:avLst/>
          </a:prstGeom>
          <a:solidFill>
            <a:srgbClr val="1F883D"/>
          </a:solidFill>
          <a:ln w="12700">
            <a:solidFill>
              <a:srgbClr val="1F883D"/>
            </a:solidFill>
            <a:prstDash val="solid"/>
          </a:ln>
        </p:spPr>
      </p:sp>
      <p:sp>
        <p:nvSpPr>
          <p:cNvPr id="19" name="Text 17"/>
          <p:cNvSpPr/>
          <p:nvPr/>
        </p:nvSpPr>
        <p:spPr>
          <a:xfrm>
            <a:off x="6400800" y="2011680"/>
            <a:ext cx="2377440" cy="384048"/>
          </a:xfrm>
          <a:prstGeom prst="rect">
            <a:avLst/>
          </a:prstGeom>
          <a:noFill/>
          <a:ln/>
        </p:spPr>
        <p:txBody>
          <a:bodyPr wrap="square" rtlCol="0" anchor="ctr"/>
          <a:lstStyle/>
          <a:p>
            <a:pPr indent="0" marL="0">
              <a:buNone/>
            </a:pPr>
            <a:r>
              <a:rPr lang="en-US" sz="1300" b="1" dirty="0">
                <a:solidFill>
                  <a:srgbClr val="1F883D"/>
                </a:solidFill>
              </a:rPr>
              <a:t>This Quarter</a:t>
            </a:r>
            <a:endParaRPr lang="en-US" sz="1300" dirty="0"/>
          </a:p>
        </p:txBody>
      </p:sp>
      <p:sp>
        <p:nvSpPr>
          <p:cNvPr id="20" name="Text 18"/>
          <p:cNvSpPr/>
          <p:nvPr/>
        </p:nvSpPr>
        <p:spPr>
          <a:xfrm>
            <a:off x="6400800" y="2514600"/>
            <a:ext cx="2377440" cy="658368"/>
          </a:xfrm>
          <a:prstGeom prst="rect">
            <a:avLst/>
          </a:prstGeom>
          <a:noFill/>
          <a:ln/>
        </p:spPr>
        <p:txBody>
          <a:bodyPr wrap="square" rtlCol="0" anchor="t"/>
          <a:lstStyle/>
          <a:p>
            <a:pPr indent="0" marL="0">
              <a:buNone/>
            </a:pPr>
            <a:r>
              <a:rPr lang="en-US" sz="950" dirty="0">
                <a:solidFill>
                  <a:srgbClr val="1F883D"/>
                </a:solidFill>
              </a:rPr>
              <a:t>→  </a:t>
            </a:r>
            <a:pPr indent="0" marL="0">
              <a:buNone/>
            </a:pPr>
            <a:r>
              <a:rPr lang="en-US" sz="950" dirty="0">
                <a:solidFill>
                  <a:srgbClr val="FFFFFF"/>
                </a:solidFill>
              </a:rPr>
              <a:t>Establish a team AI-augmented architecture workflow (Discover → Design → Build → Validate)</a:t>
            </a:r>
            <a:endParaRPr lang="en-US" sz="950" dirty="0"/>
          </a:p>
        </p:txBody>
      </p:sp>
      <p:sp>
        <p:nvSpPr>
          <p:cNvPr id="21" name="Text 19"/>
          <p:cNvSpPr/>
          <p:nvPr/>
        </p:nvSpPr>
        <p:spPr>
          <a:xfrm>
            <a:off x="6400800" y="3227832"/>
            <a:ext cx="2377440" cy="658368"/>
          </a:xfrm>
          <a:prstGeom prst="rect">
            <a:avLst/>
          </a:prstGeom>
          <a:noFill/>
          <a:ln/>
        </p:spPr>
        <p:txBody>
          <a:bodyPr wrap="square" rtlCol="0" anchor="t"/>
          <a:lstStyle/>
          <a:p>
            <a:pPr indent="0" marL="0">
              <a:buNone/>
            </a:pPr>
            <a:r>
              <a:rPr lang="en-US" sz="950" dirty="0">
                <a:solidFill>
                  <a:srgbClr val="1F883D"/>
                </a:solidFill>
              </a:rPr>
              <a:t>→  </a:t>
            </a:r>
            <a:pPr indent="0" marL="0">
              <a:buNone/>
            </a:pPr>
            <a:r>
              <a:rPr lang="en-US" sz="950" dirty="0">
                <a:solidFill>
                  <a:srgbClr val="FFFFFF"/>
                </a:solidFill>
              </a:rPr>
              <a:t>Document 3 trade-off analyses using AI as a first draft, then refine with team review</a:t>
            </a:r>
            <a:endParaRPr lang="en-US" sz="950" dirty="0"/>
          </a:p>
        </p:txBody>
      </p:sp>
      <p:sp>
        <p:nvSpPr>
          <p:cNvPr id="22" name="Text 20"/>
          <p:cNvSpPr/>
          <p:nvPr/>
        </p:nvSpPr>
        <p:spPr>
          <a:xfrm>
            <a:off x="6400800" y="3941064"/>
            <a:ext cx="2377440" cy="658368"/>
          </a:xfrm>
          <a:prstGeom prst="rect">
            <a:avLst/>
          </a:prstGeom>
          <a:noFill/>
          <a:ln/>
        </p:spPr>
        <p:txBody>
          <a:bodyPr wrap="square" rtlCol="0" anchor="t"/>
          <a:lstStyle/>
          <a:p>
            <a:pPr indent="0" marL="0">
              <a:buNone/>
            </a:pPr>
            <a:r>
              <a:rPr lang="en-US" sz="950" dirty="0">
                <a:solidFill>
                  <a:srgbClr val="1F883D"/>
                </a:solidFill>
              </a:rPr>
              <a:t>→  </a:t>
            </a:r>
            <a:pPr indent="0" marL="0">
              <a:buNone/>
            </a:pPr>
            <a:r>
              <a:rPr lang="en-US" sz="950" dirty="0">
                <a:solidFill>
                  <a:srgbClr val="FFFFFF"/>
                </a:solidFill>
              </a:rPr>
              <a:t>Share learnings — what worked, what hallucinated, what's not ready yet</a:t>
            </a:r>
            <a:endParaRPr lang="en-US" sz="950" dirty="0"/>
          </a:p>
        </p:txBody>
      </p:sp>
      <p:sp>
        <p:nvSpPr>
          <p:cNvPr id="23" name="Text 21"/>
          <p:cNvSpPr/>
          <p:nvPr/>
        </p:nvSpPr>
        <p:spPr>
          <a:xfrm>
            <a:off x="640080" y="4800600"/>
            <a:ext cx="8046720" cy="274320"/>
          </a:xfrm>
          <a:prstGeom prst="rect">
            <a:avLst/>
          </a:prstGeom>
          <a:noFill/>
          <a:ln/>
        </p:spPr>
        <p:txBody>
          <a:bodyPr wrap="square" rtlCol="0" anchor="ctr"/>
          <a:lstStyle/>
          <a:p>
            <a:pPr indent="0" marL="0">
              <a:buNone/>
            </a:pPr>
            <a:r>
              <a:rPr lang="en-US" sz="1200" i="1" dirty="0">
                <a:solidFill>
                  <a:srgbClr val="94A3B8"/>
                </a:solidFill>
              </a:rPr>
              <a:t>Questions?  Let's build something together.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for Architects: Beyond Code Generation</dc:title>
  <dc:subject>PptxGenJS Presentation</dc:subject>
  <dc:creator>PptxGenJS</dc:creator>
  <cp:lastModifiedBy>PptxGenJS</cp:lastModifiedBy>
  <cp:revision>1</cp:revision>
  <dcterms:created xsi:type="dcterms:W3CDTF">2026-05-19T19:43:13Z</dcterms:created>
  <dcterms:modified xsi:type="dcterms:W3CDTF">2026-05-19T19:43:13Z</dcterms:modified>
</cp:coreProperties>
</file>